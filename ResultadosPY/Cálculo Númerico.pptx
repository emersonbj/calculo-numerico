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Nourd Bold" charset="1" panose="00000800000000000000"/>
      <p:regular r:id="rId32"/>
    </p:embeddedFont>
    <p:embeddedFont>
      <p:font typeface="Open Sans" charset="1" panose="020B0606030504020204"/>
      <p:regular r:id="rId33"/>
    </p:embeddedFont>
    <p:embeddedFont>
      <p:font typeface="Rubik Semi-Bold" charset="1" panose="00000000000000000000"/>
      <p:regular r:id="rId34"/>
    </p:embeddedFont>
    <p:embeddedFont>
      <p:font typeface="Rubik Bold" charset="1" panose="00000800000000000000"/>
      <p:regular r:id="rId35"/>
    </p:embeddedFont>
    <p:embeddedFont>
      <p:font typeface="Rubik" charset="1" panose="00000000000000000000"/>
      <p:regular r:id="rId36"/>
    </p:embeddedFont>
    <p:embeddedFont>
      <p:font typeface="Open Sans Bold" charset="1" panose="020B0806030504020204"/>
      <p:regular r:id="rId37"/>
    </p:embeddedFont>
    <p:embeddedFont>
      <p:font typeface="Nourd" charset="1" panose="000005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https://github.com/EmersonBJ/Calculo-Numerico/tree/main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1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14.png" Type="http://schemas.openxmlformats.org/officeDocument/2006/relationships/image"/><Relationship Id="rId9" Target="../embeddings/oleObject2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15.png" Type="http://schemas.openxmlformats.org/officeDocument/2006/relationships/image"/><Relationship Id="rId9" Target="../embeddings/oleObject3.bin" Type="http://schemas.openxmlformats.org/officeDocument/2006/relationships/oleObjec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embeddings/oleObject4.bin" Type="http://schemas.openxmlformats.org/officeDocument/2006/relationships/oleObject"/><Relationship Id="rId9" Target="../media/image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9.png" Type="http://schemas.openxmlformats.org/officeDocument/2006/relationships/image"/><Relationship Id="rId8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28473" y="8374194"/>
            <a:ext cx="1738940" cy="873817"/>
          </a:xfrm>
          <a:custGeom>
            <a:avLst/>
            <a:gdLst/>
            <a:ahLst/>
            <a:cxnLst/>
            <a:rect r="r" b="b" t="t" l="l"/>
            <a:pathLst>
              <a:path h="873817" w="1738940">
                <a:moveTo>
                  <a:pt x="0" y="0"/>
                </a:moveTo>
                <a:lnTo>
                  <a:pt x="1738940" y="0"/>
                </a:lnTo>
                <a:lnTo>
                  <a:pt x="1738940" y="873817"/>
                </a:lnTo>
                <a:lnTo>
                  <a:pt x="0" y="873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27204" y="8576968"/>
            <a:ext cx="941477" cy="445062"/>
          </a:xfrm>
          <a:custGeom>
            <a:avLst/>
            <a:gdLst/>
            <a:ahLst/>
            <a:cxnLst/>
            <a:rect r="r" b="b" t="t" l="l"/>
            <a:pathLst>
              <a:path h="445062" w="941477">
                <a:moveTo>
                  <a:pt x="0" y="0"/>
                </a:moveTo>
                <a:lnTo>
                  <a:pt x="941477" y="0"/>
                </a:lnTo>
                <a:lnTo>
                  <a:pt x="941477" y="445062"/>
                </a:lnTo>
                <a:lnTo>
                  <a:pt x="0" y="44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38281" y="1152187"/>
            <a:ext cx="8305719" cy="4384500"/>
            <a:chOff x="0" y="0"/>
            <a:chExt cx="11074291" cy="58460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47650"/>
              <a:ext cx="11074291" cy="4586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999"/>
                </a:lnSpc>
              </a:pPr>
              <a:r>
                <a:rPr lang="en-US" sz="12999" b="true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Cálculo Numérico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169798"/>
              <a:ext cx="9178811" cy="67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6988" y="6890196"/>
            <a:ext cx="6935931" cy="298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Nomes: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Eduardo Fernández Britto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Emerson Wilson Branco Junior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Lucas Peracine de Oliveira Fabrino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Raphael Henrique Tavares da Silva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6194" y="6890196"/>
            <a:ext cx="2715572" cy="298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11202421688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11202421551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11202421741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11202421477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828657" y="5588520"/>
            <a:ext cx="5969286" cy="669864"/>
          </a:xfrm>
          <a:custGeom>
            <a:avLst/>
            <a:gdLst/>
            <a:ahLst/>
            <a:cxnLst/>
            <a:rect r="r" b="b" t="t" l="l"/>
            <a:pathLst>
              <a:path h="669864" w="5969286">
                <a:moveTo>
                  <a:pt x="0" y="0"/>
                </a:moveTo>
                <a:lnTo>
                  <a:pt x="5969286" y="0"/>
                </a:lnTo>
                <a:lnTo>
                  <a:pt x="596928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7998" r="0" b="-37998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385423" y="4168336"/>
            <a:ext cx="8305719" cy="2736703"/>
            <a:chOff x="0" y="0"/>
            <a:chExt cx="11074291" cy="364893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247650"/>
              <a:ext cx="11074291" cy="2389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999"/>
                </a:lnSpc>
              </a:pPr>
              <a:r>
                <a:rPr lang="en-US" sz="12999" b="true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Lista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972734"/>
              <a:ext cx="9178811" cy="67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28473" y="8374194"/>
            <a:ext cx="1738940" cy="873817"/>
          </a:xfrm>
          <a:custGeom>
            <a:avLst/>
            <a:gdLst/>
            <a:ahLst/>
            <a:cxnLst/>
            <a:rect r="r" b="b" t="t" l="l"/>
            <a:pathLst>
              <a:path h="873817" w="1738940">
                <a:moveTo>
                  <a:pt x="0" y="0"/>
                </a:moveTo>
                <a:lnTo>
                  <a:pt x="1738940" y="0"/>
                </a:lnTo>
                <a:lnTo>
                  <a:pt x="1738940" y="873817"/>
                </a:lnTo>
                <a:lnTo>
                  <a:pt x="0" y="873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27204" y="8576968"/>
            <a:ext cx="941477" cy="445062"/>
          </a:xfrm>
          <a:custGeom>
            <a:avLst/>
            <a:gdLst/>
            <a:ahLst/>
            <a:cxnLst/>
            <a:rect r="r" b="b" t="t" l="l"/>
            <a:pathLst>
              <a:path h="445062" w="941477">
                <a:moveTo>
                  <a:pt x="0" y="0"/>
                </a:moveTo>
                <a:lnTo>
                  <a:pt x="941477" y="0"/>
                </a:lnTo>
                <a:lnTo>
                  <a:pt x="941477" y="445062"/>
                </a:lnTo>
                <a:lnTo>
                  <a:pt x="0" y="44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1486" y="4079189"/>
            <a:ext cx="8305719" cy="2736703"/>
            <a:chOff x="0" y="0"/>
            <a:chExt cx="11074291" cy="364893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47650"/>
              <a:ext cx="11074291" cy="2389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999"/>
                </a:lnSpc>
              </a:pPr>
              <a:r>
                <a:rPr lang="en-US" sz="12999" b="true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GITHUB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972734"/>
              <a:ext cx="9178811" cy="67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17220" y="2674620"/>
            <a:ext cx="4937760" cy="493776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5458418" y="5970920"/>
            <a:ext cx="14246902" cy="1229983"/>
            <a:chOff x="0" y="0"/>
            <a:chExt cx="18995870" cy="163997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57150"/>
              <a:ext cx="18995870" cy="565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9"/>
                </a:lnSpc>
              </a:pPr>
              <a:r>
                <a:rPr lang="en-US" b="true" sz="3069" u="sng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  <a:hlinkClick r:id="rId6" tooltip="https://github.com/EmersonBJ/Calculo-Numerico/tree/main"/>
                </a:rPr>
                <a:t>https://github.com/EmersonBJ/Calculo-Numerico/tree/main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476986"/>
              <a:ext cx="8820473" cy="162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91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037" y="299409"/>
            <a:ext cx="12308921" cy="1965014"/>
            <a:chOff x="0" y="0"/>
            <a:chExt cx="16411895" cy="262001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87770"/>
              <a:ext cx="16411895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1576633"/>
            <a:ext cx="8878905" cy="7681667"/>
            <a:chOff x="0" y="0"/>
            <a:chExt cx="2338477" cy="20231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8477" cy="2023155"/>
            </a:xfrm>
            <a:custGeom>
              <a:avLst/>
              <a:gdLst/>
              <a:ahLst/>
              <a:cxnLst/>
              <a:rect r="r" b="b" t="t" l="l"/>
              <a:pathLst>
                <a:path h="2023155" w="2338477">
                  <a:moveTo>
                    <a:pt x="43597" y="0"/>
                  </a:moveTo>
                  <a:lnTo>
                    <a:pt x="2294880" y="0"/>
                  </a:lnTo>
                  <a:cubicBezTo>
                    <a:pt x="2318958" y="0"/>
                    <a:pt x="2338477" y="19519"/>
                    <a:pt x="2338477" y="43597"/>
                  </a:cubicBezTo>
                  <a:lnTo>
                    <a:pt x="2338477" y="1979558"/>
                  </a:lnTo>
                  <a:cubicBezTo>
                    <a:pt x="2338477" y="1991121"/>
                    <a:pt x="2333884" y="2002210"/>
                    <a:pt x="2325708" y="2010386"/>
                  </a:cubicBezTo>
                  <a:cubicBezTo>
                    <a:pt x="2317532" y="2018562"/>
                    <a:pt x="2306443" y="2023155"/>
                    <a:pt x="2294880" y="2023155"/>
                  </a:cubicBezTo>
                  <a:lnTo>
                    <a:pt x="43597" y="2023155"/>
                  </a:lnTo>
                  <a:cubicBezTo>
                    <a:pt x="32035" y="2023155"/>
                    <a:pt x="20945" y="2018562"/>
                    <a:pt x="12769" y="2010386"/>
                  </a:cubicBezTo>
                  <a:cubicBezTo>
                    <a:pt x="4593" y="2002210"/>
                    <a:pt x="0" y="1991121"/>
                    <a:pt x="0" y="1979558"/>
                  </a:cubicBezTo>
                  <a:lnTo>
                    <a:pt x="0" y="43597"/>
                  </a:lnTo>
                  <a:cubicBezTo>
                    <a:pt x="0" y="32035"/>
                    <a:pt x="4593" y="20945"/>
                    <a:pt x="12769" y="12769"/>
                  </a:cubicBezTo>
                  <a:cubicBezTo>
                    <a:pt x="20945" y="4593"/>
                    <a:pt x="32035" y="0"/>
                    <a:pt x="43597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38477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24165" y="1529022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5" y="0"/>
                </a:lnTo>
                <a:lnTo>
                  <a:pt x="3797075" y="1044195"/>
                </a:lnTo>
                <a:lnTo>
                  <a:pt x="0" y="1044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719982" y="1827269"/>
            <a:ext cx="7539318" cy="7369119"/>
            <a:chOff x="0" y="0"/>
            <a:chExt cx="1985664" cy="1940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5664" cy="1940838"/>
            </a:xfrm>
            <a:custGeom>
              <a:avLst/>
              <a:gdLst/>
              <a:ahLst/>
              <a:cxnLst/>
              <a:rect r="r" b="b" t="t" l="l"/>
              <a:pathLst>
                <a:path h="1940838" w="1985664">
                  <a:moveTo>
                    <a:pt x="51344" y="0"/>
                  </a:moveTo>
                  <a:lnTo>
                    <a:pt x="1934320" y="0"/>
                  </a:lnTo>
                  <a:cubicBezTo>
                    <a:pt x="1947937" y="0"/>
                    <a:pt x="1960997" y="5409"/>
                    <a:pt x="1970626" y="15038"/>
                  </a:cubicBezTo>
                  <a:cubicBezTo>
                    <a:pt x="1980255" y="24667"/>
                    <a:pt x="1985664" y="37726"/>
                    <a:pt x="1985664" y="51344"/>
                  </a:cubicBezTo>
                  <a:lnTo>
                    <a:pt x="1985664" y="1889494"/>
                  </a:lnTo>
                  <a:cubicBezTo>
                    <a:pt x="1985664" y="1903112"/>
                    <a:pt x="1980255" y="1916171"/>
                    <a:pt x="1970626" y="1925800"/>
                  </a:cubicBezTo>
                  <a:cubicBezTo>
                    <a:pt x="1960997" y="1935429"/>
                    <a:pt x="1947937" y="1940838"/>
                    <a:pt x="1934320" y="1940838"/>
                  </a:cubicBezTo>
                  <a:lnTo>
                    <a:pt x="51344" y="1940838"/>
                  </a:lnTo>
                  <a:cubicBezTo>
                    <a:pt x="37726" y="1940838"/>
                    <a:pt x="24667" y="1935429"/>
                    <a:pt x="15038" y="1925800"/>
                  </a:cubicBezTo>
                  <a:cubicBezTo>
                    <a:pt x="5409" y="1916171"/>
                    <a:pt x="0" y="1903112"/>
                    <a:pt x="0" y="1889494"/>
                  </a:cubicBezTo>
                  <a:lnTo>
                    <a:pt x="0" y="51344"/>
                  </a:lnTo>
                  <a:cubicBezTo>
                    <a:pt x="0" y="37726"/>
                    <a:pt x="5409" y="24667"/>
                    <a:pt x="15038" y="15038"/>
                  </a:cubicBezTo>
                  <a:cubicBezTo>
                    <a:pt x="24667" y="5409"/>
                    <a:pt x="37726" y="0"/>
                    <a:pt x="51344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85664" cy="1988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439084" y="1576633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4" y="0"/>
                </a:lnTo>
                <a:lnTo>
                  <a:pt x="3797074" y="1044196"/>
                </a:lnTo>
                <a:lnTo>
                  <a:pt x="0" y="1044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99435" y="1811155"/>
            <a:ext cx="364653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CÓDIGO - MATLAB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716326"/>
            <a:ext cx="8115300" cy="633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Efprintf('Maior número flutuante (realmax): %e\n', realmax);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fprintf('Menor número flutuante (realmin): %e\n', realmin);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fprintf('Epsilon da máquina (eps): %e\n', eps);</a:t>
            </a:r>
          </a:p>
          <a:p>
            <a:pPr algn="l">
              <a:lnSpc>
                <a:spcPts val="2653"/>
              </a:lnSpc>
            </a:pP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v= 1.0;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 = [1e-15, 1e15];</a:t>
            </a:r>
          </a:p>
          <a:p>
            <a:pPr algn="l">
              <a:lnSpc>
                <a:spcPts val="2653"/>
              </a:lnSpc>
            </a:pP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for i = 1:length(a)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x = a(i);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f_x = ((1.0 + x) - 1.0) / x;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erro_absoluto = abs(v - f_x);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erro_relativo = erro_absoluto / abs(v);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fprintf('  Valor calculado: %1.15f\n', f_x);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fprintf('  Erro Absoluto:   %e\n', erro_absoluto);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fprintf('  Erro Relativo:   %e\n\n', erro_relativo);</a:t>
            </a:r>
          </a:p>
          <a:p>
            <a:pPr algn="l">
              <a:lnSpc>
                <a:spcPts val="2653"/>
              </a:lnSpc>
            </a:pPr>
            <a:r>
              <a:rPr lang="en-US" b="true" sz="1895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98783" y="3925796"/>
            <a:ext cx="7581428" cy="390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Maior número flutuante (realmax): 1.797693e+308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Menor número flutuante (realmin): 2.225074e-308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Epsilon da máquina (eps): 2.220446e-16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Valor calculado: 1.110223024625157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Erro Absoluto:   1.102230e-01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Erro Relativo:   1.102230e-01</a:t>
            </a:r>
          </a:p>
          <a:p>
            <a:pPr algn="just">
              <a:lnSpc>
                <a:spcPts val="3125"/>
              </a:lnSpc>
            </a:pP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Valor calculado: 1.000000000000000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Erro Absoluto:   0.000000e+00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Erro Relativo:   0.000000e+00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85958" y="1827269"/>
            <a:ext cx="2903326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RESULTADO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037" y="1576633"/>
            <a:ext cx="8878905" cy="7681667"/>
            <a:chOff x="0" y="0"/>
            <a:chExt cx="2338477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8477" cy="2023155"/>
            </a:xfrm>
            <a:custGeom>
              <a:avLst/>
              <a:gdLst/>
              <a:ahLst/>
              <a:cxnLst/>
              <a:rect r="r" b="b" t="t" l="l"/>
              <a:pathLst>
                <a:path h="2023155" w="2338477">
                  <a:moveTo>
                    <a:pt x="43597" y="0"/>
                  </a:moveTo>
                  <a:lnTo>
                    <a:pt x="2294880" y="0"/>
                  </a:lnTo>
                  <a:cubicBezTo>
                    <a:pt x="2318958" y="0"/>
                    <a:pt x="2338477" y="19519"/>
                    <a:pt x="2338477" y="43597"/>
                  </a:cubicBezTo>
                  <a:lnTo>
                    <a:pt x="2338477" y="1979558"/>
                  </a:lnTo>
                  <a:cubicBezTo>
                    <a:pt x="2338477" y="1991121"/>
                    <a:pt x="2333884" y="2002210"/>
                    <a:pt x="2325708" y="2010386"/>
                  </a:cubicBezTo>
                  <a:cubicBezTo>
                    <a:pt x="2317532" y="2018562"/>
                    <a:pt x="2306443" y="2023155"/>
                    <a:pt x="2294880" y="2023155"/>
                  </a:cubicBezTo>
                  <a:lnTo>
                    <a:pt x="43597" y="2023155"/>
                  </a:lnTo>
                  <a:cubicBezTo>
                    <a:pt x="32035" y="2023155"/>
                    <a:pt x="20945" y="2018562"/>
                    <a:pt x="12769" y="2010386"/>
                  </a:cubicBezTo>
                  <a:cubicBezTo>
                    <a:pt x="4593" y="2002210"/>
                    <a:pt x="0" y="1991121"/>
                    <a:pt x="0" y="1979558"/>
                  </a:cubicBezTo>
                  <a:lnTo>
                    <a:pt x="0" y="43597"/>
                  </a:lnTo>
                  <a:cubicBezTo>
                    <a:pt x="0" y="32035"/>
                    <a:pt x="4593" y="20945"/>
                    <a:pt x="12769" y="12769"/>
                  </a:cubicBezTo>
                  <a:cubicBezTo>
                    <a:pt x="20945" y="4593"/>
                    <a:pt x="32035" y="0"/>
                    <a:pt x="43597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38477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94423" y="1529022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5" y="0"/>
                </a:lnTo>
                <a:lnTo>
                  <a:pt x="3797075" y="1044195"/>
                </a:lnTo>
                <a:lnTo>
                  <a:pt x="0" y="1044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439084" y="1576633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4" y="0"/>
                </a:lnTo>
                <a:lnTo>
                  <a:pt x="3797074" y="1044196"/>
                </a:lnTo>
                <a:lnTo>
                  <a:pt x="0" y="1044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780699" y="1588993"/>
            <a:ext cx="8206247" cy="7681667"/>
            <a:chOff x="0" y="0"/>
            <a:chExt cx="2161316" cy="20231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1316" cy="2023155"/>
            </a:xfrm>
            <a:custGeom>
              <a:avLst/>
              <a:gdLst/>
              <a:ahLst/>
              <a:cxnLst/>
              <a:rect r="r" b="b" t="t" l="l"/>
              <a:pathLst>
                <a:path h="2023155" w="2161316">
                  <a:moveTo>
                    <a:pt x="47171" y="0"/>
                  </a:moveTo>
                  <a:lnTo>
                    <a:pt x="2114145" y="0"/>
                  </a:lnTo>
                  <a:cubicBezTo>
                    <a:pt x="2126656" y="0"/>
                    <a:pt x="2138654" y="4970"/>
                    <a:pt x="2147500" y="13816"/>
                  </a:cubicBezTo>
                  <a:cubicBezTo>
                    <a:pt x="2156346" y="22662"/>
                    <a:pt x="2161316" y="34660"/>
                    <a:pt x="2161316" y="47171"/>
                  </a:cubicBezTo>
                  <a:lnTo>
                    <a:pt x="2161316" y="1975984"/>
                  </a:lnTo>
                  <a:cubicBezTo>
                    <a:pt x="2161316" y="1988495"/>
                    <a:pt x="2156346" y="2000493"/>
                    <a:pt x="2147500" y="2009339"/>
                  </a:cubicBezTo>
                  <a:cubicBezTo>
                    <a:pt x="2138654" y="2018185"/>
                    <a:pt x="2126656" y="2023155"/>
                    <a:pt x="2114145" y="2023155"/>
                  </a:cubicBezTo>
                  <a:lnTo>
                    <a:pt x="47171" y="2023155"/>
                  </a:lnTo>
                  <a:cubicBezTo>
                    <a:pt x="34660" y="2023155"/>
                    <a:pt x="22662" y="2018185"/>
                    <a:pt x="13816" y="2009339"/>
                  </a:cubicBezTo>
                  <a:cubicBezTo>
                    <a:pt x="4970" y="2000493"/>
                    <a:pt x="0" y="1988495"/>
                    <a:pt x="0" y="1975984"/>
                  </a:cubicBezTo>
                  <a:lnTo>
                    <a:pt x="0" y="47171"/>
                  </a:lnTo>
                  <a:cubicBezTo>
                    <a:pt x="0" y="34660"/>
                    <a:pt x="4970" y="22662"/>
                    <a:pt x="13816" y="13816"/>
                  </a:cubicBezTo>
                  <a:cubicBezTo>
                    <a:pt x="22662" y="4970"/>
                    <a:pt x="34660" y="0"/>
                    <a:pt x="47171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61316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341297" y="1779657"/>
            <a:ext cx="2903326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RESULTADO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5775" y="3530680"/>
            <a:ext cx="7581428" cy="390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Maior número flutuante (realmax): 1.797693e+308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Menor número flutuante (realmin): 2.225074e-308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Epsilon da máquina (eps): 2.220446e-16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Valor calculado: 1.110223024625157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Erro Absoluto:   1.102230e-01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Erro Relativo:   1.102230e-01</a:t>
            </a:r>
          </a:p>
          <a:p>
            <a:pPr algn="just">
              <a:lnSpc>
                <a:spcPts val="3125"/>
              </a:lnSpc>
            </a:pP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Valor calculado: 1.000000000000000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Erro Absoluto:   0.000000e+00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Erro Relativo:   0.000000e+00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85958" y="1827269"/>
            <a:ext cx="2903326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EXPLICAÇÃO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0093108" y="2667969"/>
            <a:ext cx="7581428" cy="663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b="true" sz="2232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adrão IEEE 754 x64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-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Sinal: 1 bit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-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Expoente: 11 bits = 2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11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= 2048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Repres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entam o valor máximo alcançável antes de ocorrer o overflow (realmax) e o valor mais próximo de zero que pode ser representado com precisão total antes de perder resolução (realmin).</a:t>
            </a:r>
          </a:p>
          <a:p>
            <a:pPr algn="just" marL="482062" indent="-241031" lvl="1">
              <a:lnSpc>
                <a:spcPts val="3125"/>
              </a:lnSpc>
              <a:buFont typeface="Arial"/>
              <a:buChar char="•"/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2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1023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~ 1.7976931348623157 * 10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308</a:t>
            </a:r>
          </a:p>
          <a:p>
            <a:pPr algn="just" marL="482062" indent="-241031" lvl="1">
              <a:lnSpc>
                <a:spcPts val="3125"/>
              </a:lnSpc>
              <a:buFont typeface="Arial"/>
              <a:buChar char="•"/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2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-1022 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~ 2.2250738585072014e 10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-308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-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Mantissa (Precisão): 52 bits = 2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52 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. A menor diferença positiva possível entre o número 1.0 e o próximo número sequencial representável.</a:t>
            </a:r>
          </a:p>
          <a:p>
            <a:pPr algn="just" marL="482062" indent="-241031" lvl="1">
              <a:lnSpc>
                <a:spcPts val="3125"/>
              </a:lnSpc>
              <a:buFont typeface="Arial"/>
              <a:buChar char="•"/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2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52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~ 2.220446049250313 *10</a:t>
            </a: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-16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Essa configuração garante que o erro final seja zero uma vez que avaliamos o intervalo dentro da precisão do sistema.</a:t>
            </a:r>
          </a:p>
          <a:p>
            <a:pPr algn="just">
              <a:lnSpc>
                <a:spcPts val="312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8108250" cy="7681667"/>
            <a:chOff x="0" y="0"/>
            <a:chExt cx="2135506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5506" cy="2023155"/>
            </a:xfrm>
            <a:custGeom>
              <a:avLst/>
              <a:gdLst/>
              <a:ahLst/>
              <a:cxnLst/>
              <a:rect r="r" b="b" t="t" l="l"/>
              <a:pathLst>
                <a:path h="2023155" w="2135506">
                  <a:moveTo>
                    <a:pt x="47741" y="0"/>
                  </a:moveTo>
                  <a:lnTo>
                    <a:pt x="2087765" y="0"/>
                  </a:lnTo>
                  <a:cubicBezTo>
                    <a:pt x="2114132" y="0"/>
                    <a:pt x="2135506" y="21374"/>
                    <a:pt x="2135506" y="47741"/>
                  </a:cubicBezTo>
                  <a:lnTo>
                    <a:pt x="2135506" y="1975414"/>
                  </a:lnTo>
                  <a:cubicBezTo>
                    <a:pt x="2135506" y="2001781"/>
                    <a:pt x="2114132" y="2023155"/>
                    <a:pt x="2087765" y="2023155"/>
                  </a:cubicBezTo>
                  <a:lnTo>
                    <a:pt x="47741" y="2023155"/>
                  </a:lnTo>
                  <a:cubicBezTo>
                    <a:pt x="21374" y="2023155"/>
                    <a:pt x="0" y="2001781"/>
                    <a:pt x="0" y="1975414"/>
                  </a:cubicBezTo>
                  <a:lnTo>
                    <a:pt x="0" y="47741"/>
                  </a:lnTo>
                  <a:cubicBezTo>
                    <a:pt x="0" y="21374"/>
                    <a:pt x="21374" y="0"/>
                    <a:pt x="47741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35506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2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24165" y="1529022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5" y="0"/>
                </a:lnTo>
                <a:lnTo>
                  <a:pt x="3797075" y="1044195"/>
                </a:lnTo>
                <a:lnTo>
                  <a:pt x="0" y="1044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439898" y="1827269"/>
            <a:ext cx="9795446" cy="7431031"/>
            <a:chOff x="0" y="0"/>
            <a:chExt cx="2579871" cy="19571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79871" cy="1957144"/>
            </a:xfrm>
            <a:custGeom>
              <a:avLst/>
              <a:gdLst/>
              <a:ahLst/>
              <a:cxnLst/>
              <a:rect r="r" b="b" t="t" l="l"/>
              <a:pathLst>
                <a:path h="1957144" w="2579871">
                  <a:moveTo>
                    <a:pt x="39518" y="0"/>
                  </a:moveTo>
                  <a:lnTo>
                    <a:pt x="2540353" y="0"/>
                  </a:lnTo>
                  <a:cubicBezTo>
                    <a:pt x="2550833" y="0"/>
                    <a:pt x="2560885" y="4163"/>
                    <a:pt x="2568296" y="11575"/>
                  </a:cubicBezTo>
                  <a:cubicBezTo>
                    <a:pt x="2575707" y="18986"/>
                    <a:pt x="2579871" y="29037"/>
                    <a:pt x="2579871" y="39518"/>
                  </a:cubicBezTo>
                  <a:lnTo>
                    <a:pt x="2579871" y="1917626"/>
                  </a:lnTo>
                  <a:cubicBezTo>
                    <a:pt x="2579871" y="1928107"/>
                    <a:pt x="2575707" y="1938158"/>
                    <a:pt x="2568296" y="1945570"/>
                  </a:cubicBezTo>
                  <a:cubicBezTo>
                    <a:pt x="2560885" y="1952981"/>
                    <a:pt x="2550833" y="1957144"/>
                    <a:pt x="2540353" y="1957144"/>
                  </a:cubicBezTo>
                  <a:lnTo>
                    <a:pt x="39518" y="1957144"/>
                  </a:lnTo>
                  <a:cubicBezTo>
                    <a:pt x="29037" y="1957144"/>
                    <a:pt x="18986" y="1952981"/>
                    <a:pt x="11575" y="1945570"/>
                  </a:cubicBezTo>
                  <a:cubicBezTo>
                    <a:pt x="4163" y="1938158"/>
                    <a:pt x="0" y="1928107"/>
                    <a:pt x="0" y="1917626"/>
                  </a:cubicBezTo>
                  <a:lnTo>
                    <a:pt x="0" y="39518"/>
                  </a:lnTo>
                  <a:cubicBezTo>
                    <a:pt x="0" y="29037"/>
                    <a:pt x="4163" y="18986"/>
                    <a:pt x="11575" y="11575"/>
                  </a:cubicBezTo>
                  <a:cubicBezTo>
                    <a:pt x="18986" y="4163"/>
                    <a:pt x="29037" y="0"/>
                    <a:pt x="3951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579871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439084" y="1576633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4" y="0"/>
                </a:lnTo>
                <a:lnTo>
                  <a:pt x="3797074" y="1044196"/>
                </a:lnTo>
                <a:lnTo>
                  <a:pt x="0" y="1044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8492554" y="3147270"/>
            <a:ext cx="9795446" cy="5067494"/>
          </a:xfrm>
          <a:custGeom>
            <a:avLst/>
            <a:gdLst/>
            <a:ahLst/>
            <a:cxnLst/>
            <a:rect r="r" b="b" t="t" l="l"/>
            <a:pathLst>
              <a:path h="5067494" w="9795446">
                <a:moveTo>
                  <a:pt x="0" y="0"/>
                </a:moveTo>
                <a:lnTo>
                  <a:pt x="9795446" y="0"/>
                </a:lnTo>
                <a:lnTo>
                  <a:pt x="9795446" y="5067493"/>
                </a:lnTo>
                <a:lnTo>
                  <a:pt x="0" y="50674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002" t="0" r="-9583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699435" y="1811155"/>
            <a:ext cx="3646536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CÓDIGO - MATBLAB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4151" y="2892994"/>
            <a:ext cx="7917349" cy="593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b="true" sz="1984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%D</a:t>
            </a: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ist = ((1 + (2*10^-8)) - (1 - (2*10^-8))) / 400;</a:t>
            </a: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%X = (1 - (2*10^-8)) : Dist : (1 + (2*10^-8));</a:t>
            </a: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X</a:t>
            </a: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= linspace(1 - 2e-8, 1 + 2e-8, 401);</a:t>
            </a: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Y</a:t>
            </a: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= X.^7 - 7*X.^6 + 21*X.^5 - 35*X.^4 + 35*X.^3 - 21*X.^2 + 7*X - 1;</a:t>
            </a: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</a:t>
            </a: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lot(X, Y);</a:t>
            </a: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title('Gráfico de f(x) no intervalo [1 - 2e-8, 1 + 2e-8]');</a:t>
            </a: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xlabel('x');</a:t>
            </a: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ylabel('f(x)');</a:t>
            </a: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g</a:t>
            </a: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rid on;</a:t>
            </a: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yline(0, 'k', 'LineWidth', 1.5); </a:t>
            </a: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xline(1, 'r--', 'LineWidth', 1.2);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85958" y="1827269"/>
            <a:ext cx="2903326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RESULTADO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572400" y="3285502"/>
            <a:ext cx="9795446" cy="4791029"/>
          </a:xfrm>
          <a:custGeom>
            <a:avLst/>
            <a:gdLst/>
            <a:ahLst/>
            <a:cxnLst/>
            <a:rect r="r" b="b" t="t" l="l"/>
            <a:pathLst>
              <a:path h="4791029" w="9795446">
                <a:moveTo>
                  <a:pt x="0" y="0"/>
                </a:moveTo>
                <a:lnTo>
                  <a:pt x="9795446" y="0"/>
                </a:lnTo>
                <a:lnTo>
                  <a:pt x="9795446" y="4791029"/>
                </a:lnTo>
                <a:lnTo>
                  <a:pt x="0" y="47910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463" t="0" r="-10393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8108250" cy="7681667"/>
            <a:chOff x="0" y="0"/>
            <a:chExt cx="2135506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5506" cy="2023155"/>
            </a:xfrm>
            <a:custGeom>
              <a:avLst/>
              <a:gdLst/>
              <a:ahLst/>
              <a:cxnLst/>
              <a:rect r="r" b="b" t="t" l="l"/>
              <a:pathLst>
                <a:path h="2023155" w="2135506">
                  <a:moveTo>
                    <a:pt x="47741" y="0"/>
                  </a:moveTo>
                  <a:lnTo>
                    <a:pt x="2087765" y="0"/>
                  </a:lnTo>
                  <a:cubicBezTo>
                    <a:pt x="2114132" y="0"/>
                    <a:pt x="2135506" y="21374"/>
                    <a:pt x="2135506" y="47741"/>
                  </a:cubicBezTo>
                  <a:lnTo>
                    <a:pt x="2135506" y="1975414"/>
                  </a:lnTo>
                  <a:cubicBezTo>
                    <a:pt x="2135506" y="2001781"/>
                    <a:pt x="2114132" y="2023155"/>
                    <a:pt x="2087765" y="2023155"/>
                  </a:cubicBezTo>
                  <a:lnTo>
                    <a:pt x="47741" y="2023155"/>
                  </a:lnTo>
                  <a:cubicBezTo>
                    <a:pt x="21374" y="2023155"/>
                    <a:pt x="0" y="2001781"/>
                    <a:pt x="0" y="1975414"/>
                  </a:cubicBezTo>
                  <a:lnTo>
                    <a:pt x="0" y="47741"/>
                  </a:lnTo>
                  <a:cubicBezTo>
                    <a:pt x="0" y="21374"/>
                    <a:pt x="21374" y="0"/>
                    <a:pt x="47741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35506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2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24165" y="1529022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5" y="0"/>
                </a:lnTo>
                <a:lnTo>
                  <a:pt x="3797075" y="1044195"/>
                </a:lnTo>
                <a:lnTo>
                  <a:pt x="0" y="1044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439898" y="1827269"/>
            <a:ext cx="9795446" cy="7431031"/>
            <a:chOff x="0" y="0"/>
            <a:chExt cx="2579871" cy="19571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79871" cy="1957144"/>
            </a:xfrm>
            <a:custGeom>
              <a:avLst/>
              <a:gdLst/>
              <a:ahLst/>
              <a:cxnLst/>
              <a:rect r="r" b="b" t="t" l="l"/>
              <a:pathLst>
                <a:path h="1957144" w="2579871">
                  <a:moveTo>
                    <a:pt x="39518" y="0"/>
                  </a:moveTo>
                  <a:lnTo>
                    <a:pt x="2540353" y="0"/>
                  </a:lnTo>
                  <a:cubicBezTo>
                    <a:pt x="2550833" y="0"/>
                    <a:pt x="2560885" y="4163"/>
                    <a:pt x="2568296" y="11575"/>
                  </a:cubicBezTo>
                  <a:cubicBezTo>
                    <a:pt x="2575707" y="18986"/>
                    <a:pt x="2579871" y="29037"/>
                    <a:pt x="2579871" y="39518"/>
                  </a:cubicBezTo>
                  <a:lnTo>
                    <a:pt x="2579871" y="1917626"/>
                  </a:lnTo>
                  <a:cubicBezTo>
                    <a:pt x="2579871" y="1928107"/>
                    <a:pt x="2575707" y="1938158"/>
                    <a:pt x="2568296" y="1945570"/>
                  </a:cubicBezTo>
                  <a:cubicBezTo>
                    <a:pt x="2560885" y="1952981"/>
                    <a:pt x="2550833" y="1957144"/>
                    <a:pt x="2540353" y="1957144"/>
                  </a:cubicBezTo>
                  <a:lnTo>
                    <a:pt x="39518" y="1957144"/>
                  </a:lnTo>
                  <a:cubicBezTo>
                    <a:pt x="29037" y="1957144"/>
                    <a:pt x="18986" y="1952981"/>
                    <a:pt x="11575" y="1945570"/>
                  </a:cubicBezTo>
                  <a:cubicBezTo>
                    <a:pt x="4163" y="1938158"/>
                    <a:pt x="0" y="1928107"/>
                    <a:pt x="0" y="1917626"/>
                  </a:cubicBezTo>
                  <a:lnTo>
                    <a:pt x="0" y="39518"/>
                  </a:lnTo>
                  <a:cubicBezTo>
                    <a:pt x="0" y="29037"/>
                    <a:pt x="4163" y="18986"/>
                    <a:pt x="11575" y="11575"/>
                  </a:cubicBezTo>
                  <a:cubicBezTo>
                    <a:pt x="18986" y="4163"/>
                    <a:pt x="29037" y="0"/>
                    <a:pt x="3951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579871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439084" y="1576633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4" y="0"/>
                </a:lnTo>
                <a:lnTo>
                  <a:pt x="3797074" y="1044196"/>
                </a:lnTo>
                <a:lnTo>
                  <a:pt x="0" y="1044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8439898" y="3348674"/>
            <a:ext cx="9795446" cy="5067494"/>
          </a:xfrm>
          <a:custGeom>
            <a:avLst/>
            <a:gdLst/>
            <a:ahLst/>
            <a:cxnLst/>
            <a:rect r="r" b="b" t="t" l="l"/>
            <a:pathLst>
              <a:path h="5067494" w="9795446">
                <a:moveTo>
                  <a:pt x="0" y="0"/>
                </a:moveTo>
                <a:lnTo>
                  <a:pt x="9795446" y="0"/>
                </a:lnTo>
                <a:lnTo>
                  <a:pt x="9795446" y="5067494"/>
                </a:lnTo>
                <a:lnTo>
                  <a:pt x="0" y="50674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002" t="0" r="-9583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699435" y="1811155"/>
            <a:ext cx="3646536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CÓDIGO - MATBLAB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4151" y="2892994"/>
            <a:ext cx="7917349" cy="593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b="true" sz="1984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%D</a:t>
            </a: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ist = ((1 + (2*10^-8)) - (1 - (2*10^-8))) / 400;</a:t>
            </a: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%X = (1 - (2*10^-8)) : Dist : (1 + (2*10^-8));</a:t>
            </a: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X</a:t>
            </a: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= linspace(1 - 2e-8, 1 + 2e-8, 401);</a:t>
            </a: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Y</a:t>
            </a: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= X.^7 - 7*X.^6 + 21*X.^5 - 35*X.^4 + 35*X.^3 - 21*X.^2 + 7*X - 1;</a:t>
            </a: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</a:t>
            </a: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lot(X, Y);</a:t>
            </a: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title('Gráfico de f(x) no intervalo [1 - 2e-8, 1 + 2e-8]');</a:t>
            </a: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xlabel('x');</a:t>
            </a: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ylabel('f(x)');</a:t>
            </a: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g</a:t>
            </a: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rid on;</a:t>
            </a: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yline(0, 'k', 'LineWidth', 1.5); </a:t>
            </a:r>
          </a:p>
          <a:p>
            <a:pPr algn="l">
              <a:lnSpc>
                <a:spcPts val="2778"/>
              </a:lnSpc>
            </a:pPr>
            <a:r>
              <a:rPr lang="en-US" b="true" sz="1984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xline(1, 'r--', 'LineWidth', 1.2);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85958" y="1827269"/>
            <a:ext cx="2903326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RESULTADO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8108250" cy="7681667"/>
            <a:chOff x="0" y="0"/>
            <a:chExt cx="2135506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5506" cy="2023155"/>
            </a:xfrm>
            <a:custGeom>
              <a:avLst/>
              <a:gdLst/>
              <a:ahLst/>
              <a:cxnLst/>
              <a:rect r="r" b="b" t="t" l="l"/>
              <a:pathLst>
                <a:path h="2023155" w="2135506">
                  <a:moveTo>
                    <a:pt x="47741" y="0"/>
                  </a:moveTo>
                  <a:lnTo>
                    <a:pt x="2087765" y="0"/>
                  </a:lnTo>
                  <a:cubicBezTo>
                    <a:pt x="2114132" y="0"/>
                    <a:pt x="2135506" y="21374"/>
                    <a:pt x="2135506" y="47741"/>
                  </a:cubicBezTo>
                  <a:lnTo>
                    <a:pt x="2135506" y="1975414"/>
                  </a:lnTo>
                  <a:cubicBezTo>
                    <a:pt x="2135506" y="2001781"/>
                    <a:pt x="2114132" y="2023155"/>
                    <a:pt x="2087765" y="2023155"/>
                  </a:cubicBezTo>
                  <a:lnTo>
                    <a:pt x="47741" y="2023155"/>
                  </a:lnTo>
                  <a:cubicBezTo>
                    <a:pt x="21374" y="2023155"/>
                    <a:pt x="0" y="2001781"/>
                    <a:pt x="0" y="1975414"/>
                  </a:cubicBezTo>
                  <a:lnTo>
                    <a:pt x="0" y="47741"/>
                  </a:lnTo>
                  <a:cubicBezTo>
                    <a:pt x="0" y="21374"/>
                    <a:pt x="21374" y="0"/>
                    <a:pt x="47741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35506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2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39898" y="1827269"/>
            <a:ext cx="9795446" cy="7431031"/>
            <a:chOff x="0" y="0"/>
            <a:chExt cx="2579871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79871" cy="1957144"/>
            </a:xfrm>
            <a:custGeom>
              <a:avLst/>
              <a:gdLst/>
              <a:ahLst/>
              <a:cxnLst/>
              <a:rect r="r" b="b" t="t" l="l"/>
              <a:pathLst>
                <a:path h="1957144" w="2579871">
                  <a:moveTo>
                    <a:pt x="39518" y="0"/>
                  </a:moveTo>
                  <a:lnTo>
                    <a:pt x="2540353" y="0"/>
                  </a:lnTo>
                  <a:cubicBezTo>
                    <a:pt x="2550833" y="0"/>
                    <a:pt x="2560885" y="4163"/>
                    <a:pt x="2568296" y="11575"/>
                  </a:cubicBezTo>
                  <a:cubicBezTo>
                    <a:pt x="2575707" y="18986"/>
                    <a:pt x="2579871" y="29037"/>
                    <a:pt x="2579871" y="39518"/>
                  </a:cubicBezTo>
                  <a:lnTo>
                    <a:pt x="2579871" y="1917626"/>
                  </a:lnTo>
                  <a:cubicBezTo>
                    <a:pt x="2579871" y="1928107"/>
                    <a:pt x="2575707" y="1938158"/>
                    <a:pt x="2568296" y="1945570"/>
                  </a:cubicBezTo>
                  <a:cubicBezTo>
                    <a:pt x="2560885" y="1952981"/>
                    <a:pt x="2550833" y="1957144"/>
                    <a:pt x="2540353" y="1957144"/>
                  </a:cubicBezTo>
                  <a:lnTo>
                    <a:pt x="39518" y="1957144"/>
                  </a:lnTo>
                  <a:cubicBezTo>
                    <a:pt x="29037" y="1957144"/>
                    <a:pt x="18986" y="1952981"/>
                    <a:pt x="11575" y="1945570"/>
                  </a:cubicBezTo>
                  <a:cubicBezTo>
                    <a:pt x="4163" y="1938158"/>
                    <a:pt x="0" y="1928107"/>
                    <a:pt x="0" y="1917626"/>
                  </a:cubicBezTo>
                  <a:lnTo>
                    <a:pt x="0" y="39518"/>
                  </a:lnTo>
                  <a:cubicBezTo>
                    <a:pt x="0" y="29037"/>
                    <a:pt x="4163" y="18986"/>
                    <a:pt x="11575" y="11575"/>
                  </a:cubicBezTo>
                  <a:cubicBezTo>
                    <a:pt x="18986" y="4163"/>
                    <a:pt x="29037" y="0"/>
                    <a:pt x="3951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79871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982845" y="1588993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4" y="0"/>
                </a:lnTo>
                <a:lnTo>
                  <a:pt x="3797074" y="1044195"/>
                </a:lnTo>
                <a:lnTo>
                  <a:pt x="0" y="1044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8439898" y="3104780"/>
            <a:ext cx="9795446" cy="4930174"/>
          </a:xfrm>
          <a:custGeom>
            <a:avLst/>
            <a:gdLst/>
            <a:ahLst/>
            <a:cxnLst/>
            <a:rect r="r" b="b" t="t" l="l"/>
            <a:pathLst>
              <a:path h="4930174" w="9795446">
                <a:moveTo>
                  <a:pt x="0" y="0"/>
                </a:moveTo>
                <a:lnTo>
                  <a:pt x="9795446" y="0"/>
                </a:lnTo>
                <a:lnTo>
                  <a:pt x="9795446" y="4930174"/>
                </a:lnTo>
                <a:lnTo>
                  <a:pt x="0" y="49301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048" t="0" r="-9324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46661" y="3345201"/>
            <a:ext cx="7581428" cy="507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Maior número flutuante (realmax): 1.797693e+308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Menor número flutuante (realmin): 2.225074e-308</a:t>
            </a:r>
          </a:p>
          <a:p>
            <a:pPr algn="just">
              <a:lnSpc>
                <a:spcPts val="3125"/>
              </a:lnSpc>
            </a:pP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Epsilon da máquina (eps): 2.220446e-16</a:t>
            </a:r>
          </a:p>
          <a:p>
            <a:pPr algn="just">
              <a:lnSpc>
                <a:spcPts val="3125"/>
              </a:lnSpc>
            </a:pP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Valor calculado: 1.110223024625157</a:t>
            </a:r>
          </a:p>
          <a:p>
            <a:pPr algn="just">
              <a:lnSpc>
                <a:spcPts val="3125"/>
              </a:lnSpc>
            </a:pP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Erro Absoluto:   1.102230e-01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Erro Relativo:   1.102230e-01</a:t>
            </a:r>
          </a:p>
          <a:p>
            <a:pPr algn="just">
              <a:lnSpc>
                <a:spcPts val="3125"/>
              </a:lnSpc>
            </a:pP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Valor calculado: 1.000000000000000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Erro Absoluto:   0.000000e+00</a:t>
            </a:r>
          </a:p>
          <a:p>
            <a:pPr algn="just">
              <a:lnSpc>
                <a:spcPts val="3125"/>
              </a:lnSpc>
            </a:pPr>
            <a:r>
              <a:rPr lang="en-US" b="true" sz="2232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Erro Relativo:   0.000000e+00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29719" y="1839628"/>
            <a:ext cx="2903326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RESULTADO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8108250" cy="7467354"/>
            <a:chOff x="0" y="0"/>
            <a:chExt cx="2135506" cy="1966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5506" cy="1966711"/>
            </a:xfrm>
            <a:custGeom>
              <a:avLst/>
              <a:gdLst/>
              <a:ahLst/>
              <a:cxnLst/>
              <a:rect r="r" b="b" t="t" l="l"/>
              <a:pathLst>
                <a:path h="1966711" w="2135506">
                  <a:moveTo>
                    <a:pt x="47741" y="0"/>
                  </a:moveTo>
                  <a:lnTo>
                    <a:pt x="2087765" y="0"/>
                  </a:lnTo>
                  <a:cubicBezTo>
                    <a:pt x="2114132" y="0"/>
                    <a:pt x="2135506" y="21374"/>
                    <a:pt x="2135506" y="47741"/>
                  </a:cubicBezTo>
                  <a:lnTo>
                    <a:pt x="2135506" y="1918969"/>
                  </a:lnTo>
                  <a:cubicBezTo>
                    <a:pt x="2135506" y="1945336"/>
                    <a:pt x="2114132" y="1966711"/>
                    <a:pt x="2087765" y="1966711"/>
                  </a:cubicBezTo>
                  <a:lnTo>
                    <a:pt x="47741" y="1966711"/>
                  </a:lnTo>
                  <a:cubicBezTo>
                    <a:pt x="21374" y="1966711"/>
                    <a:pt x="0" y="1945336"/>
                    <a:pt x="0" y="1918969"/>
                  </a:cubicBezTo>
                  <a:lnTo>
                    <a:pt x="0" y="47741"/>
                  </a:lnTo>
                  <a:cubicBezTo>
                    <a:pt x="0" y="21374"/>
                    <a:pt x="21374" y="0"/>
                    <a:pt x="47741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35506" cy="2014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39898" y="1827269"/>
            <a:ext cx="9795446" cy="7369119"/>
            <a:chOff x="0" y="0"/>
            <a:chExt cx="2579871" cy="19408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79871" cy="1940838"/>
            </a:xfrm>
            <a:custGeom>
              <a:avLst/>
              <a:gdLst/>
              <a:ahLst/>
              <a:cxnLst/>
              <a:rect r="r" b="b" t="t" l="l"/>
              <a:pathLst>
                <a:path h="1940838" w="2579871">
                  <a:moveTo>
                    <a:pt x="39518" y="0"/>
                  </a:moveTo>
                  <a:lnTo>
                    <a:pt x="2540353" y="0"/>
                  </a:lnTo>
                  <a:cubicBezTo>
                    <a:pt x="2550833" y="0"/>
                    <a:pt x="2560885" y="4163"/>
                    <a:pt x="2568296" y="11575"/>
                  </a:cubicBezTo>
                  <a:cubicBezTo>
                    <a:pt x="2575707" y="18986"/>
                    <a:pt x="2579871" y="29037"/>
                    <a:pt x="2579871" y="39518"/>
                  </a:cubicBezTo>
                  <a:lnTo>
                    <a:pt x="2579871" y="1901320"/>
                  </a:lnTo>
                  <a:cubicBezTo>
                    <a:pt x="2579871" y="1911801"/>
                    <a:pt x="2575707" y="1921852"/>
                    <a:pt x="2568296" y="1929263"/>
                  </a:cubicBezTo>
                  <a:cubicBezTo>
                    <a:pt x="2560885" y="1936674"/>
                    <a:pt x="2550833" y="1940838"/>
                    <a:pt x="2540353" y="1940838"/>
                  </a:cubicBezTo>
                  <a:lnTo>
                    <a:pt x="39518" y="1940838"/>
                  </a:lnTo>
                  <a:cubicBezTo>
                    <a:pt x="29037" y="1940838"/>
                    <a:pt x="18986" y="1936674"/>
                    <a:pt x="11575" y="1929263"/>
                  </a:cubicBezTo>
                  <a:cubicBezTo>
                    <a:pt x="4163" y="1921852"/>
                    <a:pt x="0" y="1911801"/>
                    <a:pt x="0" y="1901320"/>
                  </a:cubicBezTo>
                  <a:lnTo>
                    <a:pt x="0" y="39518"/>
                  </a:lnTo>
                  <a:cubicBezTo>
                    <a:pt x="0" y="29037"/>
                    <a:pt x="4163" y="18986"/>
                    <a:pt x="11575" y="11575"/>
                  </a:cubicBezTo>
                  <a:cubicBezTo>
                    <a:pt x="18986" y="4163"/>
                    <a:pt x="29037" y="0"/>
                    <a:pt x="3951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79871" cy="1988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1588993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5" y="0"/>
                </a:lnTo>
                <a:lnTo>
                  <a:pt x="3797075" y="1044195"/>
                </a:lnTo>
                <a:lnTo>
                  <a:pt x="0" y="1044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9144000" y="3008241"/>
            <a:ext cx="8262288" cy="4861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6"/>
              </a:lnSpc>
            </a:pPr>
          </a:p>
          <a:p>
            <a:pPr algn="just">
              <a:lnSpc>
                <a:spcPts val="2736"/>
              </a:lnSpc>
            </a:pPr>
          </a:p>
          <a:p>
            <a:pPr algn="just">
              <a:lnSpc>
                <a:spcPts val="2736"/>
              </a:lnSpc>
            </a:pPr>
            <a:r>
              <a:rPr lang="en-US" sz="1954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def f(x, mode='float64'):</a:t>
            </a:r>
          </a:p>
          <a:p>
            <a:pPr algn="just">
              <a:lnSpc>
                <a:spcPts val="2736"/>
              </a:lnSpc>
            </a:pPr>
            <a:r>
              <a:rPr lang="en-US" sz="1954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if mode == 'math.trunc': </a:t>
            </a:r>
          </a:p>
          <a:p>
            <a:pPr algn="just">
              <a:lnSpc>
                <a:spcPts val="2736"/>
              </a:lnSpc>
            </a:pPr>
            <a:r>
              <a:rPr lang="en-US" sz="1954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  return math.trunc(((math.exp(x)) - 2)*10e3)/10e3</a:t>
            </a:r>
          </a:p>
          <a:p>
            <a:pPr algn="just">
              <a:lnSpc>
                <a:spcPts val="2736"/>
              </a:lnSpc>
            </a:pPr>
            <a:r>
              <a:rPr lang="en-US" sz="1954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elif mode == 'float32':</a:t>
            </a:r>
          </a:p>
          <a:p>
            <a:pPr algn="just">
              <a:lnSpc>
                <a:spcPts val="2736"/>
              </a:lnSpc>
            </a:pPr>
            <a:r>
              <a:rPr lang="en-US" sz="1954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  return np.float32(np.exp(x) - 2)</a:t>
            </a:r>
          </a:p>
          <a:p>
            <a:pPr algn="just">
              <a:lnSpc>
                <a:spcPts val="2736"/>
              </a:lnSpc>
            </a:pPr>
            <a:r>
              <a:rPr lang="en-US" sz="1954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return math.exp(x) - 2</a:t>
            </a:r>
          </a:p>
          <a:p>
            <a:pPr algn="just">
              <a:lnSpc>
                <a:spcPts val="2736"/>
              </a:lnSpc>
            </a:pPr>
          </a:p>
          <a:p>
            <a:pPr algn="just">
              <a:lnSpc>
                <a:spcPts val="2736"/>
              </a:lnSpc>
            </a:pPr>
            <a:r>
              <a:rPr lang="en-US" sz="1954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raiz = math.log(2)</a:t>
            </a:r>
          </a:p>
          <a:p>
            <a:pPr algn="just">
              <a:lnSpc>
                <a:spcPts val="2736"/>
              </a:lnSpc>
            </a:pPr>
            <a:r>
              <a:rPr lang="en-US" sz="1954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(a,b,t) = -2, 2, 1e-16</a:t>
            </a:r>
          </a:p>
          <a:p>
            <a:pPr algn="just">
              <a:lnSpc>
                <a:spcPts val="2736"/>
              </a:lnSpc>
            </a:pPr>
          </a:p>
          <a:p>
            <a:pPr algn="just">
              <a:lnSpc>
                <a:spcPts val="2736"/>
              </a:lnSpc>
            </a:pPr>
          </a:p>
          <a:p>
            <a:pPr algn="just">
              <a:lnSpc>
                <a:spcPts val="2736"/>
              </a:lnSpc>
            </a:pPr>
            <a:r>
              <a:rPr lang="en-US" b="true" sz="1954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 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42486" y="1827269"/>
            <a:ext cx="3600102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CÓDIGO - PYTHON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8070" y="2044416"/>
            <a:ext cx="8199570" cy="100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1"/>
              </a:lnSpc>
              <a:spcBef>
                <a:spcPct val="0"/>
              </a:spcBef>
            </a:pPr>
            <a:r>
              <a:rPr lang="en-US" sz="2857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 Impac</a:t>
            </a:r>
            <a:r>
              <a:rPr lang="en-US" sz="2857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to dos Erros de Arredondamento na Busca de Raízes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5742" y="3533914"/>
            <a:ext cx="7291947" cy="126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414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Float64 para sistemas x64</a:t>
            </a:r>
          </a:p>
          <a:p>
            <a:pPr algn="l">
              <a:lnSpc>
                <a:spcPts val="3380"/>
              </a:lnSpc>
            </a:pPr>
            <a:r>
              <a:rPr lang="en-US" sz="2414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Float32, simula um sistema x32</a:t>
            </a:r>
          </a:p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Truncamento de 4 casas Math.trunc(x * 10e3)/10e3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7037" y="6132829"/>
            <a:ext cx="7543288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Raiz define a raiz real de f(x)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a, b , t são coordenadas correspondentes aos dois pontos para o cálculo da bisseção e falsa posição e tolerância. Dois pontos e a tolerâcia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8108250" cy="7467354"/>
            <a:chOff x="0" y="0"/>
            <a:chExt cx="2135506" cy="1966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5506" cy="1966711"/>
            </a:xfrm>
            <a:custGeom>
              <a:avLst/>
              <a:gdLst/>
              <a:ahLst/>
              <a:cxnLst/>
              <a:rect r="r" b="b" t="t" l="l"/>
              <a:pathLst>
                <a:path h="1966711" w="2135506">
                  <a:moveTo>
                    <a:pt x="47741" y="0"/>
                  </a:moveTo>
                  <a:lnTo>
                    <a:pt x="2087765" y="0"/>
                  </a:lnTo>
                  <a:cubicBezTo>
                    <a:pt x="2114132" y="0"/>
                    <a:pt x="2135506" y="21374"/>
                    <a:pt x="2135506" y="47741"/>
                  </a:cubicBezTo>
                  <a:lnTo>
                    <a:pt x="2135506" y="1918969"/>
                  </a:lnTo>
                  <a:cubicBezTo>
                    <a:pt x="2135506" y="1945336"/>
                    <a:pt x="2114132" y="1966711"/>
                    <a:pt x="2087765" y="1966711"/>
                  </a:cubicBezTo>
                  <a:lnTo>
                    <a:pt x="47741" y="1966711"/>
                  </a:lnTo>
                  <a:cubicBezTo>
                    <a:pt x="21374" y="1966711"/>
                    <a:pt x="0" y="1945336"/>
                    <a:pt x="0" y="1918969"/>
                  </a:cubicBezTo>
                  <a:lnTo>
                    <a:pt x="0" y="47741"/>
                  </a:lnTo>
                  <a:cubicBezTo>
                    <a:pt x="0" y="21374"/>
                    <a:pt x="21374" y="0"/>
                    <a:pt x="47741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35506" cy="2014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358" y="309930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39898" y="1827269"/>
            <a:ext cx="9795446" cy="7431031"/>
            <a:chOff x="0" y="0"/>
            <a:chExt cx="2579871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79871" cy="1957144"/>
            </a:xfrm>
            <a:custGeom>
              <a:avLst/>
              <a:gdLst/>
              <a:ahLst/>
              <a:cxnLst/>
              <a:rect r="r" b="b" t="t" l="l"/>
              <a:pathLst>
                <a:path h="1957144" w="2579871">
                  <a:moveTo>
                    <a:pt x="39518" y="0"/>
                  </a:moveTo>
                  <a:lnTo>
                    <a:pt x="2540353" y="0"/>
                  </a:lnTo>
                  <a:cubicBezTo>
                    <a:pt x="2550833" y="0"/>
                    <a:pt x="2560885" y="4163"/>
                    <a:pt x="2568296" y="11575"/>
                  </a:cubicBezTo>
                  <a:cubicBezTo>
                    <a:pt x="2575707" y="18986"/>
                    <a:pt x="2579871" y="29037"/>
                    <a:pt x="2579871" y="39518"/>
                  </a:cubicBezTo>
                  <a:lnTo>
                    <a:pt x="2579871" y="1917626"/>
                  </a:lnTo>
                  <a:cubicBezTo>
                    <a:pt x="2579871" y="1928107"/>
                    <a:pt x="2575707" y="1938158"/>
                    <a:pt x="2568296" y="1945570"/>
                  </a:cubicBezTo>
                  <a:cubicBezTo>
                    <a:pt x="2560885" y="1952981"/>
                    <a:pt x="2550833" y="1957144"/>
                    <a:pt x="2540353" y="1957144"/>
                  </a:cubicBezTo>
                  <a:lnTo>
                    <a:pt x="39518" y="1957144"/>
                  </a:lnTo>
                  <a:cubicBezTo>
                    <a:pt x="29037" y="1957144"/>
                    <a:pt x="18986" y="1952981"/>
                    <a:pt x="11575" y="1945570"/>
                  </a:cubicBezTo>
                  <a:cubicBezTo>
                    <a:pt x="4163" y="1938158"/>
                    <a:pt x="0" y="1928107"/>
                    <a:pt x="0" y="1917626"/>
                  </a:cubicBezTo>
                  <a:lnTo>
                    <a:pt x="0" y="39518"/>
                  </a:lnTo>
                  <a:cubicBezTo>
                    <a:pt x="0" y="29037"/>
                    <a:pt x="4163" y="18986"/>
                    <a:pt x="11575" y="11575"/>
                  </a:cubicBezTo>
                  <a:cubicBezTo>
                    <a:pt x="18986" y="4163"/>
                    <a:pt x="29037" y="0"/>
                    <a:pt x="3951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79871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982845" y="1588993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4" y="0"/>
                </a:lnTo>
                <a:lnTo>
                  <a:pt x="3797074" y="1044195"/>
                </a:lnTo>
                <a:lnTo>
                  <a:pt x="0" y="1044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2081331" y="1827269"/>
            <a:ext cx="3600102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CÓDIGO - PYTHON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5358" y="2730968"/>
            <a:ext cx="8806316" cy="652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6"/>
              </a:lnSpc>
            </a:pP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def bissecao(a, b, t, mode='float64'):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it = 0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e = [ ]</a:t>
            </a:r>
          </a:p>
          <a:p>
            <a:pPr algn="just">
              <a:lnSpc>
                <a:spcPts val="2706"/>
              </a:lnSpc>
            </a:pP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while abs(b - a) &gt; t and it &lt; 100: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x = (a + b) / 2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it +=1</a:t>
            </a:r>
          </a:p>
          <a:p>
            <a:pPr algn="just">
              <a:lnSpc>
                <a:spcPts val="2706"/>
              </a:lnSpc>
            </a:pP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if mode == 'math.trunc':  x = math.trunc(x * 10e3) / 10e3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elif mode == 'float32': x = np.float32(x)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 elif mode == 'float64': pass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e.append(float(abs(x - raiz)))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if f(x, mode) == 0: return float(x), it, e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elif f(a, mode) * f(x, mode) &lt; 0: b = x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else:  a = x 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return float(x), it, e </a:t>
            </a:r>
          </a:p>
          <a:p>
            <a:pPr algn="just">
              <a:lnSpc>
                <a:spcPts val="270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8439898" y="3113792"/>
            <a:ext cx="979544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Definimos o método de Bisseção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iniciamos um contador de iterações e uma lista de erros,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39898" y="4384496"/>
            <a:ext cx="979544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Condições de parada: a diferença entre os pontos atinge a tolerância ou o número de iterações chega ao limite.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92554" y="5970821"/>
            <a:ext cx="979544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Garantimos que o x se adeque ao tipo de arredondamento assim como a função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92554" y="7555147"/>
            <a:ext cx="979544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Adicionamos o erro a lista. Conferimos se encontramos a raiz exata, caso contrário, verificamos pelo teorema de Bolzano se devemos subir o valor de “a” ou descer o valor de “b”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250" y="9490778"/>
            <a:ext cx="1606076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[1] QUAR</a:t>
            </a:r>
            <a:r>
              <a:rPr lang="en-US" b="true" sz="15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TERONI, Alfio; SALERI, Fausto. Scientific computing with MATLAB and Octave. 2. ed. Berlin: Springer, 2006. (Texts in computational science and engineering, 2).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8108250" cy="7681667"/>
            <a:chOff x="0" y="0"/>
            <a:chExt cx="2135506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5506" cy="2023155"/>
            </a:xfrm>
            <a:custGeom>
              <a:avLst/>
              <a:gdLst/>
              <a:ahLst/>
              <a:cxnLst/>
              <a:rect r="r" b="b" t="t" l="l"/>
              <a:pathLst>
                <a:path h="2023155" w="2135506">
                  <a:moveTo>
                    <a:pt x="47741" y="0"/>
                  </a:moveTo>
                  <a:lnTo>
                    <a:pt x="2087765" y="0"/>
                  </a:lnTo>
                  <a:cubicBezTo>
                    <a:pt x="2114132" y="0"/>
                    <a:pt x="2135506" y="21374"/>
                    <a:pt x="2135506" y="47741"/>
                  </a:cubicBezTo>
                  <a:lnTo>
                    <a:pt x="2135506" y="1975414"/>
                  </a:lnTo>
                  <a:cubicBezTo>
                    <a:pt x="2135506" y="2001781"/>
                    <a:pt x="2114132" y="2023155"/>
                    <a:pt x="2087765" y="2023155"/>
                  </a:cubicBezTo>
                  <a:lnTo>
                    <a:pt x="47741" y="2023155"/>
                  </a:lnTo>
                  <a:cubicBezTo>
                    <a:pt x="21374" y="2023155"/>
                    <a:pt x="0" y="2001781"/>
                    <a:pt x="0" y="1975414"/>
                  </a:cubicBezTo>
                  <a:lnTo>
                    <a:pt x="0" y="47741"/>
                  </a:lnTo>
                  <a:cubicBezTo>
                    <a:pt x="0" y="21374"/>
                    <a:pt x="21374" y="0"/>
                    <a:pt x="47741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35506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11323" y="1827269"/>
            <a:ext cx="9795446" cy="7431031"/>
            <a:chOff x="0" y="0"/>
            <a:chExt cx="2579871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79871" cy="1957144"/>
            </a:xfrm>
            <a:custGeom>
              <a:avLst/>
              <a:gdLst/>
              <a:ahLst/>
              <a:cxnLst/>
              <a:rect r="r" b="b" t="t" l="l"/>
              <a:pathLst>
                <a:path h="1957144" w="2579871">
                  <a:moveTo>
                    <a:pt x="39518" y="0"/>
                  </a:moveTo>
                  <a:lnTo>
                    <a:pt x="2540353" y="0"/>
                  </a:lnTo>
                  <a:cubicBezTo>
                    <a:pt x="2550833" y="0"/>
                    <a:pt x="2560885" y="4163"/>
                    <a:pt x="2568296" y="11575"/>
                  </a:cubicBezTo>
                  <a:cubicBezTo>
                    <a:pt x="2575707" y="18986"/>
                    <a:pt x="2579871" y="29037"/>
                    <a:pt x="2579871" y="39518"/>
                  </a:cubicBezTo>
                  <a:lnTo>
                    <a:pt x="2579871" y="1917626"/>
                  </a:lnTo>
                  <a:cubicBezTo>
                    <a:pt x="2579871" y="1928107"/>
                    <a:pt x="2575707" y="1938158"/>
                    <a:pt x="2568296" y="1945570"/>
                  </a:cubicBezTo>
                  <a:cubicBezTo>
                    <a:pt x="2560885" y="1952981"/>
                    <a:pt x="2550833" y="1957144"/>
                    <a:pt x="2540353" y="1957144"/>
                  </a:cubicBezTo>
                  <a:lnTo>
                    <a:pt x="39518" y="1957144"/>
                  </a:lnTo>
                  <a:cubicBezTo>
                    <a:pt x="29037" y="1957144"/>
                    <a:pt x="18986" y="1952981"/>
                    <a:pt x="11575" y="1945570"/>
                  </a:cubicBezTo>
                  <a:cubicBezTo>
                    <a:pt x="4163" y="1938158"/>
                    <a:pt x="0" y="1928107"/>
                    <a:pt x="0" y="1917626"/>
                  </a:cubicBezTo>
                  <a:lnTo>
                    <a:pt x="0" y="39518"/>
                  </a:lnTo>
                  <a:cubicBezTo>
                    <a:pt x="0" y="29037"/>
                    <a:pt x="4163" y="18986"/>
                    <a:pt x="11575" y="11575"/>
                  </a:cubicBezTo>
                  <a:cubicBezTo>
                    <a:pt x="18986" y="4163"/>
                    <a:pt x="29037" y="0"/>
                    <a:pt x="3951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79871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982845" y="1588993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4" y="0"/>
                </a:lnTo>
                <a:lnTo>
                  <a:pt x="3797074" y="1044195"/>
                </a:lnTo>
                <a:lnTo>
                  <a:pt x="0" y="1044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2081331" y="1827269"/>
            <a:ext cx="3600102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CÓDIGO - PYTHON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7684" y="2796739"/>
            <a:ext cx="8806316" cy="617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6"/>
              </a:lnSpc>
            </a:pP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def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fal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s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a_po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s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i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cao(a, b, t, mode='float64'):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it = 0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 = [ ]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while  it &lt; 100: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 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it +=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1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  p = (a * f(b, mode) - b * f(a, mode)) / (f(b, mode) - f(a, mode))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 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if mode == 'math.trunc':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= math.trunc(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*10e3)/10e3</a:t>
            </a:r>
          </a:p>
          <a:p>
            <a:pPr algn="just">
              <a:lnSpc>
                <a:spcPts val="2706"/>
              </a:lnSpc>
            </a:pP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if mode == 'float32':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= np.float32(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)</a:t>
            </a:r>
          </a:p>
          <a:p>
            <a:pPr algn="just">
              <a:lnSpc>
                <a:spcPts val="2706"/>
              </a:lnSpc>
            </a:pP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if mode == 'float64': pass</a:t>
            </a:r>
          </a:p>
          <a:p>
            <a:pPr algn="just">
              <a:lnSpc>
                <a:spcPts val="2706"/>
              </a:lnSpc>
            </a:pP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e.append(float(abs(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- raiz)))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  if abs(f(p, mode)) &lt; t: return float(p), it, e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 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if f(p, mode) == 0: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x = p;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return x, it, e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if f(a, mode) * f(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, mode) &lt; 0: b =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else:  a =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  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   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x 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= p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 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return x, it, e</a:t>
            </a:r>
          </a:p>
          <a:p>
            <a:pPr algn="just">
              <a:lnSpc>
                <a:spcPts val="270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83250" y="9871778"/>
            <a:ext cx="1095744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[2] BURDEN, Richard L.; FAIRES, J. Douglas. Numerical analysis. 9. </a:t>
            </a:r>
            <a:r>
              <a:rPr lang="en-US" b="true" sz="15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ed. Boston: Brooks/Cole; Cengage Learning, 2011.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250" y="9490778"/>
            <a:ext cx="1606076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[1] QUAR</a:t>
            </a:r>
            <a:r>
              <a:rPr lang="en-US" b="true" sz="15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TERONI, Alfio; SALERI, Fausto. Scientific computing with MATLAB and Octave. 2. ed. Berlin: Springer, 2006. (Texts in computational science and engineering, 2).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439898" y="2796739"/>
            <a:ext cx="979544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Definimos o método de Falsa Posição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iniciamos, também, um contador de iterações e uma lista de erros,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492554" y="4824646"/>
            <a:ext cx="979544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Condições de parada: a diferença entre os pontos atinge a tolerância ou o número de iterações chega ao limite.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92554" y="5970821"/>
            <a:ext cx="979544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Garantimos que o x se adeque ao tipo de arredondamento assim como a função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92554" y="7555147"/>
            <a:ext cx="979544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Adicionamos o erro a lista. Conferimos se encontramos a raiz exata, caso contrário, verificamos pelo teorema de Bolzano qual dos valores deve ser alocado para ‘p’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6608248" cy="7681667"/>
            <a:chOff x="0" y="0"/>
            <a:chExt cx="1740444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0444" cy="2023155"/>
            </a:xfrm>
            <a:custGeom>
              <a:avLst/>
              <a:gdLst/>
              <a:ahLst/>
              <a:cxnLst/>
              <a:rect r="r" b="b" t="t" l="l"/>
              <a:pathLst>
                <a:path h="2023155" w="1740444">
                  <a:moveTo>
                    <a:pt x="58578" y="0"/>
                  </a:moveTo>
                  <a:lnTo>
                    <a:pt x="1681866" y="0"/>
                  </a:lnTo>
                  <a:cubicBezTo>
                    <a:pt x="1714218" y="0"/>
                    <a:pt x="1740444" y="26226"/>
                    <a:pt x="1740444" y="58578"/>
                  </a:cubicBezTo>
                  <a:lnTo>
                    <a:pt x="1740444" y="1964577"/>
                  </a:lnTo>
                  <a:cubicBezTo>
                    <a:pt x="1740444" y="1996929"/>
                    <a:pt x="1714218" y="2023155"/>
                    <a:pt x="1681866" y="2023155"/>
                  </a:cubicBezTo>
                  <a:lnTo>
                    <a:pt x="58578" y="2023155"/>
                  </a:lnTo>
                  <a:cubicBezTo>
                    <a:pt x="26226" y="2023155"/>
                    <a:pt x="0" y="1996929"/>
                    <a:pt x="0" y="1964577"/>
                  </a:cubicBezTo>
                  <a:lnTo>
                    <a:pt x="0" y="58578"/>
                  </a:lnTo>
                  <a:cubicBezTo>
                    <a:pt x="0" y="26226"/>
                    <a:pt x="26226" y="0"/>
                    <a:pt x="5857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40444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91498" y="1827269"/>
            <a:ext cx="11543846" cy="7431031"/>
            <a:chOff x="0" y="0"/>
            <a:chExt cx="3040355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0355" cy="1957144"/>
            </a:xfrm>
            <a:custGeom>
              <a:avLst/>
              <a:gdLst/>
              <a:ahLst/>
              <a:cxnLst/>
              <a:rect r="r" b="b" t="t" l="l"/>
              <a:pathLst>
                <a:path h="1957144" w="3040355">
                  <a:moveTo>
                    <a:pt x="33533" y="0"/>
                  </a:moveTo>
                  <a:lnTo>
                    <a:pt x="3006822" y="0"/>
                  </a:lnTo>
                  <a:cubicBezTo>
                    <a:pt x="3015715" y="0"/>
                    <a:pt x="3024244" y="3533"/>
                    <a:pt x="3030533" y="9821"/>
                  </a:cubicBezTo>
                  <a:cubicBezTo>
                    <a:pt x="3036822" y="16110"/>
                    <a:pt x="3040355" y="24639"/>
                    <a:pt x="3040355" y="33533"/>
                  </a:cubicBezTo>
                  <a:lnTo>
                    <a:pt x="3040355" y="1923611"/>
                  </a:lnTo>
                  <a:cubicBezTo>
                    <a:pt x="3040355" y="1932505"/>
                    <a:pt x="3036822" y="1941034"/>
                    <a:pt x="3030533" y="1947323"/>
                  </a:cubicBezTo>
                  <a:cubicBezTo>
                    <a:pt x="3024244" y="1953611"/>
                    <a:pt x="3015715" y="1957144"/>
                    <a:pt x="3006822" y="1957144"/>
                  </a:cubicBezTo>
                  <a:lnTo>
                    <a:pt x="33533" y="1957144"/>
                  </a:lnTo>
                  <a:cubicBezTo>
                    <a:pt x="24639" y="1957144"/>
                    <a:pt x="16110" y="1953611"/>
                    <a:pt x="9821" y="1947323"/>
                  </a:cubicBezTo>
                  <a:cubicBezTo>
                    <a:pt x="3533" y="1941034"/>
                    <a:pt x="0" y="1932505"/>
                    <a:pt x="0" y="1923611"/>
                  </a:cubicBezTo>
                  <a:lnTo>
                    <a:pt x="0" y="33533"/>
                  </a:lnTo>
                  <a:cubicBezTo>
                    <a:pt x="0" y="24639"/>
                    <a:pt x="3533" y="16110"/>
                    <a:pt x="9821" y="9821"/>
                  </a:cubicBezTo>
                  <a:cubicBezTo>
                    <a:pt x="16110" y="3533"/>
                    <a:pt x="24639" y="0"/>
                    <a:pt x="33533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040355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16" id="16"/>
          <p:cNvGraphicFramePr/>
          <p:nvPr/>
        </p:nvGraphicFramePr>
        <p:xfrm>
          <a:off x="6894438" y="2579237"/>
          <a:ext cx="7586157" cy="4274588"/>
        </p:xfrm>
        <a:graphic>
          <a:graphicData uri="http://schemas.openxmlformats.org/presentationml/2006/ole">
            <p:oleObj imgW="9105900" imgH="57912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83250" y="2913382"/>
            <a:ext cx="660824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Análise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250" y="3983358"/>
            <a:ext cx="660824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09061" y="3608707"/>
            <a:ext cx="5756626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Para a raiz desse exercício, usamos math.log(2). Isso nos retoma uma raiz em x64, justificando o erro zero em float64.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7037" y="5785094"/>
            <a:ext cx="575662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Nos demais tivemos erros relativos a ordem do respectivo método de arredondamento.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6608248" cy="7681667"/>
            <a:chOff x="0" y="0"/>
            <a:chExt cx="1740444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0444" cy="2023155"/>
            </a:xfrm>
            <a:custGeom>
              <a:avLst/>
              <a:gdLst/>
              <a:ahLst/>
              <a:cxnLst/>
              <a:rect r="r" b="b" t="t" l="l"/>
              <a:pathLst>
                <a:path h="2023155" w="1740444">
                  <a:moveTo>
                    <a:pt x="58578" y="0"/>
                  </a:moveTo>
                  <a:lnTo>
                    <a:pt x="1681866" y="0"/>
                  </a:lnTo>
                  <a:cubicBezTo>
                    <a:pt x="1714218" y="0"/>
                    <a:pt x="1740444" y="26226"/>
                    <a:pt x="1740444" y="58578"/>
                  </a:cubicBezTo>
                  <a:lnTo>
                    <a:pt x="1740444" y="1964577"/>
                  </a:lnTo>
                  <a:cubicBezTo>
                    <a:pt x="1740444" y="1996929"/>
                    <a:pt x="1714218" y="2023155"/>
                    <a:pt x="1681866" y="2023155"/>
                  </a:cubicBezTo>
                  <a:lnTo>
                    <a:pt x="58578" y="2023155"/>
                  </a:lnTo>
                  <a:cubicBezTo>
                    <a:pt x="26226" y="2023155"/>
                    <a:pt x="0" y="1996929"/>
                    <a:pt x="0" y="1964577"/>
                  </a:cubicBezTo>
                  <a:lnTo>
                    <a:pt x="0" y="58578"/>
                  </a:lnTo>
                  <a:cubicBezTo>
                    <a:pt x="0" y="26226"/>
                    <a:pt x="26226" y="0"/>
                    <a:pt x="5857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40444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91498" y="1827269"/>
            <a:ext cx="11543846" cy="7431031"/>
            <a:chOff x="0" y="0"/>
            <a:chExt cx="3040355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0355" cy="1957144"/>
            </a:xfrm>
            <a:custGeom>
              <a:avLst/>
              <a:gdLst/>
              <a:ahLst/>
              <a:cxnLst/>
              <a:rect r="r" b="b" t="t" l="l"/>
              <a:pathLst>
                <a:path h="1957144" w="3040355">
                  <a:moveTo>
                    <a:pt x="33533" y="0"/>
                  </a:moveTo>
                  <a:lnTo>
                    <a:pt x="3006822" y="0"/>
                  </a:lnTo>
                  <a:cubicBezTo>
                    <a:pt x="3015715" y="0"/>
                    <a:pt x="3024244" y="3533"/>
                    <a:pt x="3030533" y="9821"/>
                  </a:cubicBezTo>
                  <a:cubicBezTo>
                    <a:pt x="3036822" y="16110"/>
                    <a:pt x="3040355" y="24639"/>
                    <a:pt x="3040355" y="33533"/>
                  </a:cubicBezTo>
                  <a:lnTo>
                    <a:pt x="3040355" y="1923611"/>
                  </a:lnTo>
                  <a:cubicBezTo>
                    <a:pt x="3040355" y="1932505"/>
                    <a:pt x="3036822" y="1941034"/>
                    <a:pt x="3030533" y="1947323"/>
                  </a:cubicBezTo>
                  <a:cubicBezTo>
                    <a:pt x="3024244" y="1953611"/>
                    <a:pt x="3015715" y="1957144"/>
                    <a:pt x="3006822" y="1957144"/>
                  </a:cubicBezTo>
                  <a:lnTo>
                    <a:pt x="33533" y="1957144"/>
                  </a:lnTo>
                  <a:cubicBezTo>
                    <a:pt x="24639" y="1957144"/>
                    <a:pt x="16110" y="1953611"/>
                    <a:pt x="9821" y="1947323"/>
                  </a:cubicBezTo>
                  <a:cubicBezTo>
                    <a:pt x="3533" y="1941034"/>
                    <a:pt x="0" y="1932505"/>
                    <a:pt x="0" y="1923611"/>
                  </a:cubicBezTo>
                  <a:lnTo>
                    <a:pt x="0" y="33533"/>
                  </a:lnTo>
                  <a:cubicBezTo>
                    <a:pt x="0" y="24639"/>
                    <a:pt x="3533" y="16110"/>
                    <a:pt x="9821" y="9821"/>
                  </a:cubicBezTo>
                  <a:cubicBezTo>
                    <a:pt x="16110" y="3533"/>
                    <a:pt x="24639" y="0"/>
                    <a:pt x="33533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040355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7118535" y="2362935"/>
            <a:ext cx="10689771" cy="6413863"/>
          </a:xfrm>
          <a:custGeom>
            <a:avLst/>
            <a:gdLst/>
            <a:ahLst/>
            <a:cxnLst/>
            <a:rect r="r" b="b" t="t" l="l"/>
            <a:pathLst>
              <a:path h="6413863" w="10689771">
                <a:moveTo>
                  <a:pt x="0" y="0"/>
                </a:moveTo>
                <a:lnTo>
                  <a:pt x="10689772" y="0"/>
                </a:lnTo>
                <a:lnTo>
                  <a:pt x="10689772" y="6413863"/>
                </a:lnTo>
                <a:lnTo>
                  <a:pt x="0" y="64138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3250" y="2315310"/>
            <a:ext cx="660824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Análise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6441" y="5095875"/>
            <a:ext cx="6301867" cy="301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1912">
                <a:solidFill>
                  <a:srgbClr val="D9D9D9"/>
                </a:solidFill>
                <a:latin typeface="Rubik"/>
                <a:ea typeface="Rubik"/>
                <a:cs typeface="Rubik"/>
                <a:sym typeface="Rubik"/>
              </a:rPr>
              <a:t>Observa-se que o erro diminui progressivamente a cada iteração, evidenciando a convergência do método.</a:t>
            </a:r>
          </a:p>
          <a:p>
            <a:pPr algn="ctr">
              <a:lnSpc>
                <a:spcPts val="2677"/>
              </a:lnSpc>
            </a:pPr>
            <a:r>
              <a:rPr lang="en-US" sz="1912">
                <a:solidFill>
                  <a:srgbClr val="D9D9D9"/>
                </a:solidFill>
                <a:latin typeface="Rubik"/>
                <a:ea typeface="Rubik"/>
                <a:cs typeface="Rubik"/>
                <a:sym typeface="Rubik"/>
              </a:rPr>
              <a:t> Entretanto, a partir de certo ponto, o erro deixa de diminuir e passa a oscilar ou estabilizar.</a:t>
            </a:r>
          </a:p>
          <a:p>
            <a:pPr algn="ctr">
              <a:lnSpc>
                <a:spcPts val="2677"/>
              </a:lnSpc>
            </a:pPr>
            <a:r>
              <a:rPr lang="en-US" sz="1912">
                <a:solidFill>
                  <a:srgbClr val="D9D9D9"/>
                </a:solidFill>
                <a:latin typeface="Rubik"/>
                <a:ea typeface="Rubik"/>
                <a:cs typeface="Rubik"/>
                <a:sym typeface="Rubik"/>
              </a:rPr>
              <a:t> Esse comportamento ocorre porque a precisão finita da máquina impõe um limite mínimo para o erro.</a:t>
            </a:r>
          </a:p>
          <a:p>
            <a:pPr algn="ctr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D9D9D9"/>
                </a:solidFill>
                <a:latin typeface="Rubik"/>
                <a:ea typeface="Rubik"/>
                <a:cs typeface="Rubik"/>
                <a:sym typeface="Rubik"/>
              </a:rPr>
              <a:t> Cada modo de representação numérica atinge esse limite em níveis diferentes: o truncamento estagna primeiro, seguido do float32 e, por último, o float64.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6441" y="3051917"/>
            <a:ext cx="6022532" cy="125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5"/>
              </a:lnSpc>
              <a:spcBef>
                <a:spcPct val="0"/>
              </a:spcBef>
            </a:pPr>
            <a:r>
              <a:rPr lang="en-US" sz="1789">
                <a:solidFill>
                  <a:srgbClr val="D9D9D9"/>
                </a:solidFill>
                <a:latin typeface="Rubik"/>
                <a:ea typeface="Rubik"/>
                <a:cs typeface="Rubik"/>
                <a:sym typeface="Rubik"/>
              </a:rPr>
              <a:t>O ponto onde cada curva para de descer representa o limite da precisão numérica. A partir desse ponto, o erro de arredondamento domina o cálculo e impede maior convergência.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6450841" cy="7467354"/>
            <a:chOff x="0" y="0"/>
            <a:chExt cx="1698987" cy="1966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8987" cy="1966711"/>
            </a:xfrm>
            <a:custGeom>
              <a:avLst/>
              <a:gdLst/>
              <a:ahLst/>
              <a:cxnLst/>
              <a:rect r="r" b="b" t="t" l="l"/>
              <a:pathLst>
                <a:path h="1966711" w="1698987">
                  <a:moveTo>
                    <a:pt x="60007" y="0"/>
                  </a:moveTo>
                  <a:lnTo>
                    <a:pt x="1638980" y="0"/>
                  </a:lnTo>
                  <a:cubicBezTo>
                    <a:pt x="1654895" y="0"/>
                    <a:pt x="1670158" y="6322"/>
                    <a:pt x="1681411" y="17576"/>
                  </a:cubicBezTo>
                  <a:cubicBezTo>
                    <a:pt x="1692665" y="28829"/>
                    <a:pt x="1698987" y="44092"/>
                    <a:pt x="1698987" y="60007"/>
                  </a:cubicBezTo>
                  <a:lnTo>
                    <a:pt x="1698987" y="1906704"/>
                  </a:lnTo>
                  <a:cubicBezTo>
                    <a:pt x="1698987" y="1939845"/>
                    <a:pt x="1672121" y="1966711"/>
                    <a:pt x="1638980" y="1966711"/>
                  </a:cubicBezTo>
                  <a:lnTo>
                    <a:pt x="60007" y="1966711"/>
                  </a:lnTo>
                  <a:cubicBezTo>
                    <a:pt x="44092" y="1966711"/>
                    <a:pt x="28829" y="1960388"/>
                    <a:pt x="17576" y="1949135"/>
                  </a:cubicBezTo>
                  <a:cubicBezTo>
                    <a:pt x="6322" y="1937881"/>
                    <a:pt x="0" y="1922618"/>
                    <a:pt x="0" y="1906704"/>
                  </a:cubicBezTo>
                  <a:lnTo>
                    <a:pt x="0" y="60007"/>
                  </a:lnTo>
                  <a:cubicBezTo>
                    <a:pt x="0" y="44092"/>
                    <a:pt x="6322" y="28829"/>
                    <a:pt x="17576" y="17576"/>
                  </a:cubicBezTo>
                  <a:cubicBezTo>
                    <a:pt x="28829" y="6322"/>
                    <a:pt x="44092" y="0"/>
                    <a:pt x="60007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98987" cy="2014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91498" y="1827269"/>
            <a:ext cx="11543846" cy="7369119"/>
            <a:chOff x="0" y="0"/>
            <a:chExt cx="3040355" cy="19408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0355" cy="1940838"/>
            </a:xfrm>
            <a:custGeom>
              <a:avLst/>
              <a:gdLst/>
              <a:ahLst/>
              <a:cxnLst/>
              <a:rect r="r" b="b" t="t" l="l"/>
              <a:pathLst>
                <a:path h="1940838" w="3040355">
                  <a:moveTo>
                    <a:pt x="33533" y="0"/>
                  </a:moveTo>
                  <a:lnTo>
                    <a:pt x="3006822" y="0"/>
                  </a:lnTo>
                  <a:cubicBezTo>
                    <a:pt x="3015715" y="0"/>
                    <a:pt x="3024244" y="3533"/>
                    <a:pt x="3030533" y="9821"/>
                  </a:cubicBezTo>
                  <a:cubicBezTo>
                    <a:pt x="3036822" y="16110"/>
                    <a:pt x="3040355" y="24639"/>
                    <a:pt x="3040355" y="33533"/>
                  </a:cubicBezTo>
                  <a:lnTo>
                    <a:pt x="3040355" y="1907305"/>
                  </a:lnTo>
                  <a:cubicBezTo>
                    <a:pt x="3040355" y="1916199"/>
                    <a:pt x="3036822" y="1924728"/>
                    <a:pt x="3030533" y="1931016"/>
                  </a:cubicBezTo>
                  <a:cubicBezTo>
                    <a:pt x="3024244" y="1937305"/>
                    <a:pt x="3015715" y="1940838"/>
                    <a:pt x="3006822" y="1940838"/>
                  </a:cubicBezTo>
                  <a:lnTo>
                    <a:pt x="33533" y="1940838"/>
                  </a:lnTo>
                  <a:cubicBezTo>
                    <a:pt x="24639" y="1940838"/>
                    <a:pt x="16110" y="1937305"/>
                    <a:pt x="9821" y="1931016"/>
                  </a:cubicBezTo>
                  <a:cubicBezTo>
                    <a:pt x="3533" y="1924728"/>
                    <a:pt x="0" y="1916199"/>
                    <a:pt x="0" y="1907305"/>
                  </a:cubicBezTo>
                  <a:lnTo>
                    <a:pt x="0" y="33533"/>
                  </a:lnTo>
                  <a:cubicBezTo>
                    <a:pt x="0" y="24639"/>
                    <a:pt x="3533" y="16110"/>
                    <a:pt x="9821" y="9821"/>
                  </a:cubicBezTo>
                  <a:cubicBezTo>
                    <a:pt x="16110" y="3533"/>
                    <a:pt x="24639" y="0"/>
                    <a:pt x="33533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040355" cy="1988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7114080" y="2360262"/>
            <a:ext cx="10698682" cy="6419209"/>
          </a:xfrm>
          <a:custGeom>
            <a:avLst/>
            <a:gdLst/>
            <a:ahLst/>
            <a:cxnLst/>
            <a:rect r="r" b="b" t="t" l="l"/>
            <a:pathLst>
              <a:path h="6419209" w="10698682">
                <a:moveTo>
                  <a:pt x="0" y="0"/>
                </a:moveTo>
                <a:lnTo>
                  <a:pt x="10698682" y="0"/>
                </a:lnTo>
                <a:lnTo>
                  <a:pt x="10698682" y="6419209"/>
                </a:lnTo>
                <a:lnTo>
                  <a:pt x="0" y="64192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3250" y="2913382"/>
            <a:ext cx="660824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Análise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250" y="3758622"/>
            <a:ext cx="6238807" cy="371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</a:pPr>
            <a:r>
              <a:rPr lang="en-US" sz="236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Observa-se que a Falsa Posição é mais sensível aos erros numéricos do que a Bisseção.</a:t>
            </a:r>
          </a:p>
          <a:p>
            <a:pPr algn="ctr">
              <a:lnSpc>
                <a:spcPts val="3304"/>
              </a:lnSpc>
            </a:pPr>
            <a:r>
              <a:rPr lang="en-US" sz="236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No caso do truncamento, o método rapidamente atinge um limite de precisão e o erro passa a permanecer constante.</a:t>
            </a:r>
          </a:p>
          <a:p>
            <a:pPr algn="ctr">
              <a:lnSpc>
                <a:spcPts val="3304"/>
              </a:lnSpc>
            </a:pPr>
          </a:p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36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Já o float64 mantém a convergência até próximo do epsilon da máquina.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8108250" cy="7681667"/>
            <a:chOff x="0" y="0"/>
            <a:chExt cx="2135506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5506" cy="2023155"/>
            </a:xfrm>
            <a:custGeom>
              <a:avLst/>
              <a:gdLst/>
              <a:ahLst/>
              <a:cxnLst/>
              <a:rect r="r" b="b" t="t" l="l"/>
              <a:pathLst>
                <a:path h="2023155" w="2135506">
                  <a:moveTo>
                    <a:pt x="47741" y="0"/>
                  </a:moveTo>
                  <a:lnTo>
                    <a:pt x="2087765" y="0"/>
                  </a:lnTo>
                  <a:cubicBezTo>
                    <a:pt x="2114132" y="0"/>
                    <a:pt x="2135506" y="21374"/>
                    <a:pt x="2135506" y="47741"/>
                  </a:cubicBezTo>
                  <a:lnTo>
                    <a:pt x="2135506" y="1975414"/>
                  </a:lnTo>
                  <a:cubicBezTo>
                    <a:pt x="2135506" y="2001781"/>
                    <a:pt x="2114132" y="2023155"/>
                    <a:pt x="2087765" y="2023155"/>
                  </a:cubicBezTo>
                  <a:lnTo>
                    <a:pt x="47741" y="2023155"/>
                  </a:lnTo>
                  <a:cubicBezTo>
                    <a:pt x="21374" y="2023155"/>
                    <a:pt x="0" y="2001781"/>
                    <a:pt x="0" y="1975414"/>
                  </a:cubicBezTo>
                  <a:lnTo>
                    <a:pt x="0" y="47741"/>
                  </a:lnTo>
                  <a:cubicBezTo>
                    <a:pt x="0" y="21374"/>
                    <a:pt x="21374" y="0"/>
                    <a:pt x="47741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35506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4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11323" y="1827269"/>
            <a:ext cx="9795446" cy="7431031"/>
            <a:chOff x="0" y="0"/>
            <a:chExt cx="2579871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79871" cy="1957144"/>
            </a:xfrm>
            <a:custGeom>
              <a:avLst/>
              <a:gdLst/>
              <a:ahLst/>
              <a:cxnLst/>
              <a:rect r="r" b="b" t="t" l="l"/>
              <a:pathLst>
                <a:path h="1957144" w="2579871">
                  <a:moveTo>
                    <a:pt x="39518" y="0"/>
                  </a:moveTo>
                  <a:lnTo>
                    <a:pt x="2540353" y="0"/>
                  </a:lnTo>
                  <a:cubicBezTo>
                    <a:pt x="2550833" y="0"/>
                    <a:pt x="2560885" y="4163"/>
                    <a:pt x="2568296" y="11575"/>
                  </a:cubicBezTo>
                  <a:cubicBezTo>
                    <a:pt x="2575707" y="18986"/>
                    <a:pt x="2579871" y="29037"/>
                    <a:pt x="2579871" y="39518"/>
                  </a:cubicBezTo>
                  <a:lnTo>
                    <a:pt x="2579871" y="1917626"/>
                  </a:lnTo>
                  <a:cubicBezTo>
                    <a:pt x="2579871" y="1928107"/>
                    <a:pt x="2575707" y="1938158"/>
                    <a:pt x="2568296" y="1945570"/>
                  </a:cubicBezTo>
                  <a:cubicBezTo>
                    <a:pt x="2560885" y="1952981"/>
                    <a:pt x="2550833" y="1957144"/>
                    <a:pt x="2540353" y="1957144"/>
                  </a:cubicBezTo>
                  <a:lnTo>
                    <a:pt x="39518" y="1957144"/>
                  </a:lnTo>
                  <a:cubicBezTo>
                    <a:pt x="29037" y="1957144"/>
                    <a:pt x="18986" y="1952981"/>
                    <a:pt x="11575" y="1945570"/>
                  </a:cubicBezTo>
                  <a:cubicBezTo>
                    <a:pt x="4163" y="1938158"/>
                    <a:pt x="0" y="1928107"/>
                    <a:pt x="0" y="1917626"/>
                  </a:cubicBezTo>
                  <a:lnTo>
                    <a:pt x="0" y="39518"/>
                  </a:lnTo>
                  <a:cubicBezTo>
                    <a:pt x="0" y="29037"/>
                    <a:pt x="4163" y="18986"/>
                    <a:pt x="11575" y="11575"/>
                  </a:cubicBezTo>
                  <a:cubicBezTo>
                    <a:pt x="18986" y="4163"/>
                    <a:pt x="29037" y="0"/>
                    <a:pt x="3951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79871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982845" y="1588993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4" y="0"/>
                </a:lnTo>
                <a:lnTo>
                  <a:pt x="3797074" y="1044195"/>
                </a:lnTo>
                <a:lnTo>
                  <a:pt x="0" y="1044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2081331" y="1827269"/>
            <a:ext cx="3600102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CÓDIGO - PYTHON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7684" y="2796739"/>
            <a:ext cx="8806316" cy="617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6"/>
              </a:lnSpc>
            </a:pP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c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la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ss Func1:</a:t>
            </a:r>
          </a:p>
          <a:p>
            <a:pPr algn="just">
              <a:lnSpc>
                <a:spcPts val="2706"/>
              </a:lnSpc>
            </a:pP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def f(self, x):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return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x**3 -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7*x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+ 6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def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df(self, x): r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eturn 3*x**2 -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7</a:t>
            </a:r>
          </a:p>
          <a:p>
            <a:pPr algn="just">
              <a:lnSpc>
                <a:spcPts val="2706"/>
              </a:lnSpc>
            </a:pP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Ra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izes =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[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1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, 2, -3] </a:t>
            </a:r>
          </a:p>
          <a:p>
            <a:pPr algn="just">
              <a:lnSpc>
                <a:spcPts val="2706"/>
              </a:lnSpc>
            </a:pP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def phi(self, x): r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eturn (x**3 +6)/7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def d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phi(self,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x): return (3*x**2)/7</a:t>
            </a:r>
          </a:p>
          <a:p>
            <a:pPr algn="just">
              <a:lnSpc>
                <a:spcPts val="2706"/>
              </a:lnSpc>
            </a:pP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c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lass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Func2:</a:t>
            </a:r>
          </a:p>
          <a:p>
            <a:pPr algn="just">
              <a:lnSpc>
                <a:spcPts val="2706"/>
              </a:lnSpc>
            </a:pP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def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f(self, x): return math.log(x + 1) + x - 2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de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f df(self, x):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return 1/(x + 1)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+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1</a:t>
            </a:r>
          </a:p>
          <a:p>
            <a:pPr algn="just">
              <a:lnSpc>
                <a:spcPts val="2706"/>
              </a:lnSpc>
            </a:pPr>
          </a:p>
          <a:p>
            <a:pPr algn="just">
              <a:lnSpc>
                <a:spcPts val="2706"/>
              </a:lnSpc>
            </a:pP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Raizes = [1.20794]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</a:p>
          <a:p>
            <a:pPr algn="just">
              <a:lnSpc>
                <a:spcPts val="2706"/>
              </a:lnSpc>
            </a:pP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de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f phi(self, x): return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2 - math.log(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x +</a:t>
            </a: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1)</a:t>
            </a:r>
          </a:p>
          <a:p>
            <a:pPr algn="just">
              <a:lnSpc>
                <a:spcPts val="2706"/>
              </a:lnSpc>
            </a:pPr>
            <a:r>
              <a:rPr lang="en-US" b="true" sz="1933" u="non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 def dphi(self, x): </a:t>
            </a:r>
            <a:r>
              <a:rPr lang="en-US" b="true" sz="193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return -1/(x + 1)</a:t>
            </a:r>
          </a:p>
          <a:p>
            <a:pPr algn="just">
              <a:lnSpc>
                <a:spcPts val="270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696144" y="3394580"/>
            <a:ext cx="727733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Separamos em duas classes para cada uma das funções com seus respectivos f, df, phi e dphi.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656729" y="6189444"/>
            <a:ext cx="730463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eixamos as Raízes predefinidas para o cálculo posterior dos erros.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7810341" cy="7681667"/>
            <a:chOff x="0" y="0"/>
            <a:chExt cx="2057044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7044" cy="2023155"/>
            </a:xfrm>
            <a:custGeom>
              <a:avLst/>
              <a:gdLst/>
              <a:ahLst/>
              <a:cxnLst/>
              <a:rect r="r" b="b" t="t" l="l"/>
              <a:pathLst>
                <a:path h="2023155" w="2057044">
                  <a:moveTo>
                    <a:pt x="49562" y="0"/>
                  </a:moveTo>
                  <a:lnTo>
                    <a:pt x="2007483" y="0"/>
                  </a:lnTo>
                  <a:cubicBezTo>
                    <a:pt x="2020627" y="0"/>
                    <a:pt x="2033233" y="5222"/>
                    <a:pt x="2042528" y="14516"/>
                  </a:cubicBezTo>
                  <a:cubicBezTo>
                    <a:pt x="2051823" y="23811"/>
                    <a:pt x="2057044" y="36417"/>
                    <a:pt x="2057044" y="49562"/>
                  </a:cubicBezTo>
                  <a:lnTo>
                    <a:pt x="2057044" y="1973593"/>
                  </a:lnTo>
                  <a:cubicBezTo>
                    <a:pt x="2057044" y="1986738"/>
                    <a:pt x="2051823" y="1999344"/>
                    <a:pt x="2042528" y="2008639"/>
                  </a:cubicBezTo>
                  <a:cubicBezTo>
                    <a:pt x="2033233" y="2017933"/>
                    <a:pt x="2020627" y="2023155"/>
                    <a:pt x="2007483" y="2023155"/>
                  </a:cubicBezTo>
                  <a:lnTo>
                    <a:pt x="49562" y="2023155"/>
                  </a:lnTo>
                  <a:cubicBezTo>
                    <a:pt x="36417" y="2023155"/>
                    <a:pt x="23811" y="2017933"/>
                    <a:pt x="14516" y="2008639"/>
                  </a:cubicBezTo>
                  <a:cubicBezTo>
                    <a:pt x="5222" y="1999344"/>
                    <a:pt x="0" y="1986738"/>
                    <a:pt x="0" y="1973593"/>
                  </a:cubicBezTo>
                  <a:lnTo>
                    <a:pt x="0" y="49562"/>
                  </a:lnTo>
                  <a:cubicBezTo>
                    <a:pt x="0" y="36417"/>
                    <a:pt x="5222" y="23811"/>
                    <a:pt x="14516" y="14516"/>
                  </a:cubicBezTo>
                  <a:cubicBezTo>
                    <a:pt x="23811" y="5222"/>
                    <a:pt x="36417" y="0"/>
                    <a:pt x="49562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57044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4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70752" y="1827269"/>
            <a:ext cx="9916194" cy="7431031"/>
            <a:chOff x="0" y="0"/>
            <a:chExt cx="2611673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11673" cy="1957144"/>
            </a:xfrm>
            <a:custGeom>
              <a:avLst/>
              <a:gdLst/>
              <a:ahLst/>
              <a:cxnLst/>
              <a:rect r="r" b="b" t="t" l="l"/>
              <a:pathLst>
                <a:path h="1957144" w="2611673">
                  <a:moveTo>
                    <a:pt x="39037" y="0"/>
                  </a:moveTo>
                  <a:lnTo>
                    <a:pt x="2572636" y="0"/>
                  </a:lnTo>
                  <a:cubicBezTo>
                    <a:pt x="2582989" y="0"/>
                    <a:pt x="2592918" y="4113"/>
                    <a:pt x="2600239" y="11434"/>
                  </a:cubicBezTo>
                  <a:cubicBezTo>
                    <a:pt x="2607560" y="18754"/>
                    <a:pt x="2611673" y="28684"/>
                    <a:pt x="2611673" y="39037"/>
                  </a:cubicBezTo>
                  <a:lnTo>
                    <a:pt x="2611673" y="1918107"/>
                  </a:lnTo>
                  <a:cubicBezTo>
                    <a:pt x="2611673" y="1928461"/>
                    <a:pt x="2607560" y="1938390"/>
                    <a:pt x="2600239" y="1945710"/>
                  </a:cubicBezTo>
                  <a:cubicBezTo>
                    <a:pt x="2592918" y="1953031"/>
                    <a:pt x="2582989" y="1957144"/>
                    <a:pt x="2572636" y="1957144"/>
                  </a:cubicBezTo>
                  <a:lnTo>
                    <a:pt x="39037" y="1957144"/>
                  </a:lnTo>
                  <a:cubicBezTo>
                    <a:pt x="28684" y="1957144"/>
                    <a:pt x="18754" y="1953031"/>
                    <a:pt x="11434" y="1945710"/>
                  </a:cubicBezTo>
                  <a:cubicBezTo>
                    <a:pt x="4113" y="1938390"/>
                    <a:pt x="0" y="1928461"/>
                    <a:pt x="0" y="1918107"/>
                  </a:cubicBezTo>
                  <a:lnTo>
                    <a:pt x="0" y="39037"/>
                  </a:lnTo>
                  <a:cubicBezTo>
                    <a:pt x="0" y="28684"/>
                    <a:pt x="4113" y="18754"/>
                    <a:pt x="11434" y="11434"/>
                  </a:cubicBezTo>
                  <a:cubicBezTo>
                    <a:pt x="18754" y="4113"/>
                    <a:pt x="28684" y="0"/>
                    <a:pt x="39037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611673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77637" y="2211232"/>
            <a:ext cx="8041513" cy="611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ef ponto_fixo(x, t, func = Func1):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name = "Ponto Fixo"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it = 0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e = [ ]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start_time = time.perf_counter()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while it &lt; 100: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x.append(func.phi(x[it]))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it += 1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e.append( min([abs(x[it] - r) for r in func.Raizes]) 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abs(x[it] - x[it-1]) &lt; t:  break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tempo = time.perf_counter() - start_time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return it, e, name, tempo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438479" y="3538382"/>
            <a:ext cx="916716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Iniciamos o contador de iterações, lista de erros e cronômetro.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7321" y="1809625"/>
            <a:ext cx="4577275" cy="97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sz="564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Ponto fixo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94813" y="6998715"/>
            <a:ext cx="926807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Extraímos o número de iterações, lista de erros, nome e tempo para listarmos depois.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11923" y="5246532"/>
            <a:ext cx="926807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Adicionamos os valores de x a uma lista associados as suas iterações, assim podemos evitar o loop do truncamento do exercício 3, quando os valores ficam próximos demais.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7810341" cy="7681667"/>
            <a:chOff x="0" y="0"/>
            <a:chExt cx="2057044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7044" cy="2023155"/>
            </a:xfrm>
            <a:custGeom>
              <a:avLst/>
              <a:gdLst/>
              <a:ahLst/>
              <a:cxnLst/>
              <a:rect r="r" b="b" t="t" l="l"/>
              <a:pathLst>
                <a:path h="2023155" w="2057044">
                  <a:moveTo>
                    <a:pt x="49562" y="0"/>
                  </a:moveTo>
                  <a:lnTo>
                    <a:pt x="2007483" y="0"/>
                  </a:lnTo>
                  <a:cubicBezTo>
                    <a:pt x="2020627" y="0"/>
                    <a:pt x="2033233" y="5222"/>
                    <a:pt x="2042528" y="14516"/>
                  </a:cubicBezTo>
                  <a:cubicBezTo>
                    <a:pt x="2051823" y="23811"/>
                    <a:pt x="2057044" y="36417"/>
                    <a:pt x="2057044" y="49562"/>
                  </a:cubicBezTo>
                  <a:lnTo>
                    <a:pt x="2057044" y="1973593"/>
                  </a:lnTo>
                  <a:cubicBezTo>
                    <a:pt x="2057044" y="1986738"/>
                    <a:pt x="2051823" y="1999344"/>
                    <a:pt x="2042528" y="2008639"/>
                  </a:cubicBezTo>
                  <a:cubicBezTo>
                    <a:pt x="2033233" y="2017933"/>
                    <a:pt x="2020627" y="2023155"/>
                    <a:pt x="2007483" y="2023155"/>
                  </a:cubicBezTo>
                  <a:lnTo>
                    <a:pt x="49562" y="2023155"/>
                  </a:lnTo>
                  <a:cubicBezTo>
                    <a:pt x="36417" y="2023155"/>
                    <a:pt x="23811" y="2017933"/>
                    <a:pt x="14516" y="2008639"/>
                  </a:cubicBezTo>
                  <a:cubicBezTo>
                    <a:pt x="5222" y="1999344"/>
                    <a:pt x="0" y="1986738"/>
                    <a:pt x="0" y="1973593"/>
                  </a:cubicBezTo>
                  <a:lnTo>
                    <a:pt x="0" y="49562"/>
                  </a:lnTo>
                  <a:cubicBezTo>
                    <a:pt x="0" y="36417"/>
                    <a:pt x="5222" y="23811"/>
                    <a:pt x="14516" y="14516"/>
                  </a:cubicBezTo>
                  <a:cubicBezTo>
                    <a:pt x="23811" y="5222"/>
                    <a:pt x="36417" y="0"/>
                    <a:pt x="49562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57044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4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70752" y="1827269"/>
            <a:ext cx="9916194" cy="7431031"/>
            <a:chOff x="0" y="0"/>
            <a:chExt cx="2611673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11673" cy="1957144"/>
            </a:xfrm>
            <a:custGeom>
              <a:avLst/>
              <a:gdLst/>
              <a:ahLst/>
              <a:cxnLst/>
              <a:rect r="r" b="b" t="t" l="l"/>
              <a:pathLst>
                <a:path h="1957144" w="2611673">
                  <a:moveTo>
                    <a:pt x="39037" y="0"/>
                  </a:moveTo>
                  <a:lnTo>
                    <a:pt x="2572636" y="0"/>
                  </a:lnTo>
                  <a:cubicBezTo>
                    <a:pt x="2582989" y="0"/>
                    <a:pt x="2592918" y="4113"/>
                    <a:pt x="2600239" y="11434"/>
                  </a:cubicBezTo>
                  <a:cubicBezTo>
                    <a:pt x="2607560" y="18754"/>
                    <a:pt x="2611673" y="28684"/>
                    <a:pt x="2611673" y="39037"/>
                  </a:cubicBezTo>
                  <a:lnTo>
                    <a:pt x="2611673" y="1918107"/>
                  </a:lnTo>
                  <a:cubicBezTo>
                    <a:pt x="2611673" y="1928461"/>
                    <a:pt x="2607560" y="1938390"/>
                    <a:pt x="2600239" y="1945710"/>
                  </a:cubicBezTo>
                  <a:cubicBezTo>
                    <a:pt x="2592918" y="1953031"/>
                    <a:pt x="2582989" y="1957144"/>
                    <a:pt x="2572636" y="1957144"/>
                  </a:cubicBezTo>
                  <a:lnTo>
                    <a:pt x="39037" y="1957144"/>
                  </a:lnTo>
                  <a:cubicBezTo>
                    <a:pt x="28684" y="1957144"/>
                    <a:pt x="18754" y="1953031"/>
                    <a:pt x="11434" y="1945710"/>
                  </a:cubicBezTo>
                  <a:cubicBezTo>
                    <a:pt x="4113" y="1938390"/>
                    <a:pt x="0" y="1928461"/>
                    <a:pt x="0" y="1918107"/>
                  </a:cubicBezTo>
                  <a:lnTo>
                    <a:pt x="0" y="39037"/>
                  </a:lnTo>
                  <a:cubicBezTo>
                    <a:pt x="0" y="28684"/>
                    <a:pt x="4113" y="18754"/>
                    <a:pt x="11434" y="11434"/>
                  </a:cubicBezTo>
                  <a:cubicBezTo>
                    <a:pt x="18754" y="4113"/>
                    <a:pt x="28684" y="0"/>
                    <a:pt x="39037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611673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93394" y="1779644"/>
            <a:ext cx="8041513" cy="787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ef newton(x, t, func = Func1):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name = "Newton-Raphson"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it = 0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e = [ ]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start_time = time.perf_counter()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while it &lt; 100: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func.df(x[it]) == 0: break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x.append(x[it] - func.f(x[it])/func.df(x[it]))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it += 1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e.append(min([abs(x[it] - r) for r in func.Raizes]))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abs(x[it] - x[it-1]) &lt; t: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  break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tempo = time.perf_counter() - start_time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return it, e, name, tempo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290928" y="1828675"/>
            <a:ext cx="3110060" cy="88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1"/>
              </a:lnSpc>
            </a:pPr>
            <a:r>
              <a:rPr lang="en-US" sz="518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Newton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81285" y="3419620"/>
            <a:ext cx="792934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Rodamos os mesmos contadores do método anterior.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99245" y="5307834"/>
            <a:ext cx="785920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Aplicamos ao método de newton, importando as funções da definição inicial.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Armazenamos o erro e as aproximações.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11933375" cy="7681667"/>
            <a:chOff x="0" y="0"/>
            <a:chExt cx="3142946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2946" cy="2023155"/>
            </a:xfrm>
            <a:custGeom>
              <a:avLst/>
              <a:gdLst/>
              <a:ahLst/>
              <a:cxnLst/>
              <a:rect r="r" b="b" t="t" l="l"/>
              <a:pathLst>
                <a:path h="2023155" w="3142946">
                  <a:moveTo>
                    <a:pt x="32438" y="0"/>
                  </a:moveTo>
                  <a:lnTo>
                    <a:pt x="3110508" y="0"/>
                  </a:lnTo>
                  <a:cubicBezTo>
                    <a:pt x="3119111" y="0"/>
                    <a:pt x="3127362" y="3418"/>
                    <a:pt x="3133445" y="9501"/>
                  </a:cubicBezTo>
                  <a:cubicBezTo>
                    <a:pt x="3139529" y="15584"/>
                    <a:pt x="3142946" y="23835"/>
                    <a:pt x="3142946" y="32438"/>
                  </a:cubicBezTo>
                  <a:lnTo>
                    <a:pt x="3142946" y="1990717"/>
                  </a:lnTo>
                  <a:cubicBezTo>
                    <a:pt x="3142946" y="2008632"/>
                    <a:pt x="3128423" y="2023155"/>
                    <a:pt x="3110508" y="2023155"/>
                  </a:cubicBezTo>
                  <a:lnTo>
                    <a:pt x="32438" y="2023155"/>
                  </a:lnTo>
                  <a:cubicBezTo>
                    <a:pt x="23835" y="2023155"/>
                    <a:pt x="15584" y="2019737"/>
                    <a:pt x="9501" y="2013654"/>
                  </a:cubicBezTo>
                  <a:cubicBezTo>
                    <a:pt x="3418" y="2007571"/>
                    <a:pt x="0" y="1999320"/>
                    <a:pt x="0" y="1990717"/>
                  </a:cubicBezTo>
                  <a:lnTo>
                    <a:pt x="0" y="32438"/>
                  </a:lnTo>
                  <a:cubicBezTo>
                    <a:pt x="0" y="23835"/>
                    <a:pt x="3418" y="15584"/>
                    <a:pt x="9501" y="9501"/>
                  </a:cubicBezTo>
                  <a:cubicBezTo>
                    <a:pt x="15584" y="3418"/>
                    <a:pt x="23835" y="0"/>
                    <a:pt x="3243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142946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4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95625" y="1827269"/>
            <a:ext cx="5591321" cy="7431031"/>
            <a:chOff x="0" y="0"/>
            <a:chExt cx="1472611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2611" cy="1957144"/>
            </a:xfrm>
            <a:custGeom>
              <a:avLst/>
              <a:gdLst/>
              <a:ahLst/>
              <a:cxnLst/>
              <a:rect r="r" b="b" t="t" l="l"/>
              <a:pathLst>
                <a:path h="1957144" w="1472611">
                  <a:moveTo>
                    <a:pt x="69232" y="0"/>
                  </a:moveTo>
                  <a:lnTo>
                    <a:pt x="1403380" y="0"/>
                  </a:lnTo>
                  <a:cubicBezTo>
                    <a:pt x="1421741" y="0"/>
                    <a:pt x="1439350" y="7294"/>
                    <a:pt x="1452334" y="20277"/>
                  </a:cubicBezTo>
                  <a:cubicBezTo>
                    <a:pt x="1465317" y="33261"/>
                    <a:pt x="1472611" y="50870"/>
                    <a:pt x="1472611" y="69232"/>
                  </a:cubicBezTo>
                  <a:lnTo>
                    <a:pt x="1472611" y="1887912"/>
                  </a:lnTo>
                  <a:cubicBezTo>
                    <a:pt x="1472611" y="1906274"/>
                    <a:pt x="1465317" y="1923883"/>
                    <a:pt x="1452334" y="1936867"/>
                  </a:cubicBezTo>
                  <a:cubicBezTo>
                    <a:pt x="1439350" y="1949850"/>
                    <a:pt x="1421741" y="1957144"/>
                    <a:pt x="1403380" y="1957144"/>
                  </a:cubicBezTo>
                  <a:lnTo>
                    <a:pt x="69232" y="1957144"/>
                  </a:lnTo>
                  <a:cubicBezTo>
                    <a:pt x="50870" y="1957144"/>
                    <a:pt x="33261" y="1949850"/>
                    <a:pt x="20277" y="1936867"/>
                  </a:cubicBezTo>
                  <a:cubicBezTo>
                    <a:pt x="7294" y="1923883"/>
                    <a:pt x="0" y="1906274"/>
                    <a:pt x="0" y="1887912"/>
                  </a:cubicBezTo>
                  <a:lnTo>
                    <a:pt x="0" y="69232"/>
                  </a:lnTo>
                  <a:cubicBezTo>
                    <a:pt x="0" y="50870"/>
                    <a:pt x="7294" y="33261"/>
                    <a:pt x="20277" y="20277"/>
                  </a:cubicBezTo>
                  <a:cubicBezTo>
                    <a:pt x="33261" y="7294"/>
                    <a:pt x="50870" y="0"/>
                    <a:pt x="69232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72611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93394" y="1779644"/>
            <a:ext cx="11723231" cy="743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ef secante(x, t, func = Func1):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name = "Secante"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it = 1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e = [ ]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start_time = time.perf_counter()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while it &lt; 100: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func.f(x[it]) - func.f(x[it-1]) == 0: break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x.append(x[it] - (((x[it] - x[it-1]) * func.f(x[it])) / (func.f(x[it]) - func.f(x[it-1]))))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it += 1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e.append(min([abs(x[it] - r) for r in func.Raizes]))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abs(x[it] - x[it-1]) &lt; t: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  break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tempo = time.perf_counter() - start_time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return it, e, name, tempo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750586" y="4855364"/>
            <a:ext cx="5236361" cy="191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  <a:spcBef>
                <a:spcPct val="0"/>
              </a:spcBef>
            </a:pPr>
            <a:r>
              <a:rPr lang="en-US" sz="2196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“min” é  usado porque temos mais de uma raiz associada a Func1, dessa forma devemos sempre escolher o erro relativo a raiz mais próxima para adicionar a lista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6608248" cy="7681667"/>
            <a:chOff x="0" y="0"/>
            <a:chExt cx="1740444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0444" cy="2023155"/>
            </a:xfrm>
            <a:custGeom>
              <a:avLst/>
              <a:gdLst/>
              <a:ahLst/>
              <a:cxnLst/>
              <a:rect r="r" b="b" t="t" l="l"/>
              <a:pathLst>
                <a:path h="2023155" w="1740444">
                  <a:moveTo>
                    <a:pt x="58578" y="0"/>
                  </a:moveTo>
                  <a:lnTo>
                    <a:pt x="1681866" y="0"/>
                  </a:lnTo>
                  <a:cubicBezTo>
                    <a:pt x="1714218" y="0"/>
                    <a:pt x="1740444" y="26226"/>
                    <a:pt x="1740444" y="58578"/>
                  </a:cubicBezTo>
                  <a:lnTo>
                    <a:pt x="1740444" y="1964577"/>
                  </a:lnTo>
                  <a:cubicBezTo>
                    <a:pt x="1740444" y="1996929"/>
                    <a:pt x="1714218" y="2023155"/>
                    <a:pt x="1681866" y="2023155"/>
                  </a:cubicBezTo>
                  <a:lnTo>
                    <a:pt x="58578" y="2023155"/>
                  </a:lnTo>
                  <a:cubicBezTo>
                    <a:pt x="26226" y="2023155"/>
                    <a:pt x="0" y="1996929"/>
                    <a:pt x="0" y="1964577"/>
                  </a:cubicBezTo>
                  <a:lnTo>
                    <a:pt x="0" y="58578"/>
                  </a:lnTo>
                  <a:cubicBezTo>
                    <a:pt x="0" y="26226"/>
                    <a:pt x="26226" y="0"/>
                    <a:pt x="5857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40444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4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85885" y="1827269"/>
            <a:ext cx="11349459" cy="7431031"/>
            <a:chOff x="0" y="0"/>
            <a:chExt cx="2989158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89158" cy="1957144"/>
            </a:xfrm>
            <a:custGeom>
              <a:avLst/>
              <a:gdLst/>
              <a:ahLst/>
              <a:cxnLst/>
              <a:rect r="r" b="b" t="t" l="l"/>
              <a:pathLst>
                <a:path h="1957144" w="2989158">
                  <a:moveTo>
                    <a:pt x="34107" y="0"/>
                  </a:moveTo>
                  <a:lnTo>
                    <a:pt x="2955051" y="0"/>
                  </a:lnTo>
                  <a:cubicBezTo>
                    <a:pt x="2973888" y="0"/>
                    <a:pt x="2989158" y="15270"/>
                    <a:pt x="2989158" y="34107"/>
                  </a:cubicBezTo>
                  <a:lnTo>
                    <a:pt x="2989158" y="1923037"/>
                  </a:lnTo>
                  <a:cubicBezTo>
                    <a:pt x="2989158" y="1932083"/>
                    <a:pt x="2985565" y="1940758"/>
                    <a:pt x="2979168" y="1947154"/>
                  </a:cubicBezTo>
                  <a:cubicBezTo>
                    <a:pt x="2972772" y="1953551"/>
                    <a:pt x="2964097" y="1957144"/>
                    <a:pt x="2955051" y="1957144"/>
                  </a:cubicBezTo>
                  <a:lnTo>
                    <a:pt x="34107" y="1957144"/>
                  </a:lnTo>
                  <a:cubicBezTo>
                    <a:pt x="15270" y="1957144"/>
                    <a:pt x="0" y="1941874"/>
                    <a:pt x="0" y="1923037"/>
                  </a:cubicBezTo>
                  <a:lnTo>
                    <a:pt x="0" y="34107"/>
                  </a:lnTo>
                  <a:cubicBezTo>
                    <a:pt x="0" y="15270"/>
                    <a:pt x="15270" y="0"/>
                    <a:pt x="34107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989158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947421" y="1572702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5" y="0"/>
                </a:lnTo>
                <a:lnTo>
                  <a:pt x="3797075" y="1044195"/>
                </a:lnTo>
                <a:lnTo>
                  <a:pt x="0" y="10441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aphicFrame>
        <p:nvGraphicFramePr>
          <p:cNvPr name="Object 17" id="17"/>
          <p:cNvGraphicFramePr/>
          <p:nvPr/>
        </p:nvGraphicFramePr>
        <p:xfrm>
          <a:off x="7099607" y="4002042"/>
          <a:ext cx="12843700" cy="3771900"/>
        </p:xfrm>
        <a:graphic>
          <a:graphicData uri="http://schemas.openxmlformats.org/presentationml/2006/ole">
            <p:oleObj imgW="15405100" imgH="63373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1394295" y="1870948"/>
            <a:ext cx="2903326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RESULTADO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37679" y="3074941"/>
            <a:ext cx="454141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f(</a:t>
            </a: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x) = x^(3) − 7x + 6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6608248" cy="7681667"/>
            <a:chOff x="0" y="0"/>
            <a:chExt cx="1740444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0444" cy="2023155"/>
            </a:xfrm>
            <a:custGeom>
              <a:avLst/>
              <a:gdLst/>
              <a:ahLst/>
              <a:cxnLst/>
              <a:rect r="r" b="b" t="t" l="l"/>
              <a:pathLst>
                <a:path h="2023155" w="1740444">
                  <a:moveTo>
                    <a:pt x="58578" y="0"/>
                  </a:moveTo>
                  <a:lnTo>
                    <a:pt x="1681866" y="0"/>
                  </a:lnTo>
                  <a:cubicBezTo>
                    <a:pt x="1714218" y="0"/>
                    <a:pt x="1740444" y="26226"/>
                    <a:pt x="1740444" y="58578"/>
                  </a:cubicBezTo>
                  <a:lnTo>
                    <a:pt x="1740444" y="1964577"/>
                  </a:lnTo>
                  <a:cubicBezTo>
                    <a:pt x="1740444" y="1996929"/>
                    <a:pt x="1714218" y="2023155"/>
                    <a:pt x="1681866" y="2023155"/>
                  </a:cubicBezTo>
                  <a:lnTo>
                    <a:pt x="58578" y="2023155"/>
                  </a:lnTo>
                  <a:cubicBezTo>
                    <a:pt x="26226" y="2023155"/>
                    <a:pt x="0" y="1996929"/>
                    <a:pt x="0" y="1964577"/>
                  </a:cubicBezTo>
                  <a:lnTo>
                    <a:pt x="0" y="58578"/>
                  </a:lnTo>
                  <a:cubicBezTo>
                    <a:pt x="0" y="26226"/>
                    <a:pt x="26226" y="0"/>
                    <a:pt x="5857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40444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4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85885" y="1827269"/>
            <a:ext cx="11349459" cy="7431031"/>
            <a:chOff x="0" y="0"/>
            <a:chExt cx="2989158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89158" cy="1957144"/>
            </a:xfrm>
            <a:custGeom>
              <a:avLst/>
              <a:gdLst/>
              <a:ahLst/>
              <a:cxnLst/>
              <a:rect r="r" b="b" t="t" l="l"/>
              <a:pathLst>
                <a:path h="1957144" w="2989158">
                  <a:moveTo>
                    <a:pt x="34107" y="0"/>
                  </a:moveTo>
                  <a:lnTo>
                    <a:pt x="2955051" y="0"/>
                  </a:lnTo>
                  <a:cubicBezTo>
                    <a:pt x="2973888" y="0"/>
                    <a:pt x="2989158" y="15270"/>
                    <a:pt x="2989158" y="34107"/>
                  </a:cubicBezTo>
                  <a:lnTo>
                    <a:pt x="2989158" y="1923037"/>
                  </a:lnTo>
                  <a:cubicBezTo>
                    <a:pt x="2989158" y="1932083"/>
                    <a:pt x="2985565" y="1940758"/>
                    <a:pt x="2979168" y="1947154"/>
                  </a:cubicBezTo>
                  <a:cubicBezTo>
                    <a:pt x="2972772" y="1953551"/>
                    <a:pt x="2964097" y="1957144"/>
                    <a:pt x="2955051" y="1957144"/>
                  </a:cubicBezTo>
                  <a:lnTo>
                    <a:pt x="34107" y="1957144"/>
                  </a:lnTo>
                  <a:cubicBezTo>
                    <a:pt x="15270" y="1957144"/>
                    <a:pt x="0" y="1941874"/>
                    <a:pt x="0" y="1923037"/>
                  </a:cubicBezTo>
                  <a:lnTo>
                    <a:pt x="0" y="34107"/>
                  </a:lnTo>
                  <a:cubicBezTo>
                    <a:pt x="0" y="15270"/>
                    <a:pt x="15270" y="0"/>
                    <a:pt x="34107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989158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947421" y="1572702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5" y="0"/>
                </a:lnTo>
                <a:lnTo>
                  <a:pt x="3797075" y="1044195"/>
                </a:lnTo>
                <a:lnTo>
                  <a:pt x="0" y="10441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aphicFrame>
        <p:nvGraphicFramePr>
          <p:cNvPr name="Object 17" id="17"/>
          <p:cNvGraphicFramePr/>
          <p:nvPr/>
        </p:nvGraphicFramePr>
        <p:xfrm>
          <a:off x="7281503" y="4002886"/>
          <a:ext cx="12843700" cy="3771900"/>
        </p:xfrm>
        <a:graphic>
          <a:graphicData uri="http://schemas.openxmlformats.org/presentationml/2006/ole">
            <p:oleObj imgW="15405100" imgH="63373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1394295" y="1870948"/>
            <a:ext cx="2903326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RESULTADO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71229" y="3074941"/>
            <a:ext cx="113494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f(</a:t>
            </a: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x) = ln(x + 1) + x − 2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33878" y="2296088"/>
            <a:ext cx="2507835" cy="82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4"/>
              </a:lnSpc>
            </a:pPr>
            <a:r>
              <a:rPr lang="en-US" b="true" sz="5110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Análise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3162" y="4585475"/>
            <a:ext cx="5948425" cy="267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3"/>
              </a:lnSpc>
            </a:pPr>
            <a:r>
              <a:rPr lang="en-US" sz="2741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Analisando a tabela, vemos que o método de Newton é o mais rápido para chegar próximo da raíz; aparesenta o menor erro; e apresente também o menor número de iterações.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1827269"/>
            <a:ext cx="9091344" cy="7431031"/>
            <a:chOff x="0" y="0"/>
            <a:chExt cx="2394428" cy="19571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94428" cy="1957144"/>
            </a:xfrm>
            <a:custGeom>
              <a:avLst/>
              <a:gdLst/>
              <a:ahLst/>
              <a:cxnLst/>
              <a:rect r="r" b="b" t="t" l="l"/>
              <a:pathLst>
                <a:path h="1957144" w="2394428">
                  <a:moveTo>
                    <a:pt x="42579" y="0"/>
                  </a:moveTo>
                  <a:lnTo>
                    <a:pt x="2351849" y="0"/>
                  </a:lnTo>
                  <a:cubicBezTo>
                    <a:pt x="2363142" y="0"/>
                    <a:pt x="2373972" y="4486"/>
                    <a:pt x="2381957" y="12471"/>
                  </a:cubicBezTo>
                  <a:cubicBezTo>
                    <a:pt x="2389942" y="20456"/>
                    <a:pt x="2394428" y="31286"/>
                    <a:pt x="2394428" y="42579"/>
                  </a:cubicBezTo>
                  <a:lnTo>
                    <a:pt x="2394428" y="1914566"/>
                  </a:lnTo>
                  <a:cubicBezTo>
                    <a:pt x="2394428" y="1925858"/>
                    <a:pt x="2389942" y="1936688"/>
                    <a:pt x="2381957" y="1944673"/>
                  </a:cubicBezTo>
                  <a:cubicBezTo>
                    <a:pt x="2373972" y="1952658"/>
                    <a:pt x="2363142" y="1957144"/>
                    <a:pt x="2351849" y="1957144"/>
                  </a:cubicBezTo>
                  <a:lnTo>
                    <a:pt x="42579" y="1957144"/>
                  </a:lnTo>
                  <a:cubicBezTo>
                    <a:pt x="31286" y="1957144"/>
                    <a:pt x="20456" y="1952658"/>
                    <a:pt x="12471" y="1944673"/>
                  </a:cubicBezTo>
                  <a:cubicBezTo>
                    <a:pt x="4486" y="1936688"/>
                    <a:pt x="0" y="1925858"/>
                    <a:pt x="0" y="1914566"/>
                  </a:cubicBezTo>
                  <a:lnTo>
                    <a:pt x="0" y="42579"/>
                  </a:lnTo>
                  <a:cubicBezTo>
                    <a:pt x="0" y="31286"/>
                    <a:pt x="4486" y="20456"/>
                    <a:pt x="12471" y="12471"/>
                  </a:cubicBezTo>
                  <a:cubicBezTo>
                    <a:pt x="20456" y="4486"/>
                    <a:pt x="31286" y="0"/>
                    <a:pt x="42579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94428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-52656" y="9253538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52656" y="1822506"/>
            <a:ext cx="9091344" cy="7431031"/>
            <a:chOff x="0" y="0"/>
            <a:chExt cx="2394428" cy="19571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94428" cy="1957144"/>
            </a:xfrm>
            <a:custGeom>
              <a:avLst/>
              <a:gdLst/>
              <a:ahLst/>
              <a:cxnLst/>
              <a:rect r="r" b="b" t="t" l="l"/>
              <a:pathLst>
                <a:path h="1957144" w="2394428">
                  <a:moveTo>
                    <a:pt x="42579" y="0"/>
                  </a:moveTo>
                  <a:lnTo>
                    <a:pt x="2351849" y="0"/>
                  </a:lnTo>
                  <a:cubicBezTo>
                    <a:pt x="2363142" y="0"/>
                    <a:pt x="2373972" y="4486"/>
                    <a:pt x="2381957" y="12471"/>
                  </a:cubicBezTo>
                  <a:cubicBezTo>
                    <a:pt x="2389942" y="20456"/>
                    <a:pt x="2394428" y="31286"/>
                    <a:pt x="2394428" y="42579"/>
                  </a:cubicBezTo>
                  <a:lnTo>
                    <a:pt x="2394428" y="1914566"/>
                  </a:lnTo>
                  <a:cubicBezTo>
                    <a:pt x="2394428" y="1925858"/>
                    <a:pt x="2389942" y="1936688"/>
                    <a:pt x="2381957" y="1944673"/>
                  </a:cubicBezTo>
                  <a:cubicBezTo>
                    <a:pt x="2373972" y="1952658"/>
                    <a:pt x="2363142" y="1957144"/>
                    <a:pt x="2351849" y="1957144"/>
                  </a:cubicBezTo>
                  <a:lnTo>
                    <a:pt x="42579" y="1957144"/>
                  </a:lnTo>
                  <a:cubicBezTo>
                    <a:pt x="31286" y="1957144"/>
                    <a:pt x="20456" y="1952658"/>
                    <a:pt x="12471" y="1944673"/>
                  </a:cubicBezTo>
                  <a:cubicBezTo>
                    <a:pt x="4486" y="1936688"/>
                    <a:pt x="0" y="1925858"/>
                    <a:pt x="0" y="1914566"/>
                  </a:cubicBezTo>
                  <a:lnTo>
                    <a:pt x="0" y="42579"/>
                  </a:lnTo>
                  <a:cubicBezTo>
                    <a:pt x="0" y="31286"/>
                    <a:pt x="4486" y="20456"/>
                    <a:pt x="12471" y="12471"/>
                  </a:cubicBezTo>
                  <a:cubicBezTo>
                    <a:pt x="20456" y="4486"/>
                    <a:pt x="31286" y="0"/>
                    <a:pt x="42579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394428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56895" y="2360931"/>
            <a:ext cx="8472243" cy="6354182"/>
          </a:xfrm>
          <a:custGeom>
            <a:avLst/>
            <a:gdLst/>
            <a:ahLst/>
            <a:cxnLst/>
            <a:rect r="r" b="b" t="t" l="l"/>
            <a:pathLst>
              <a:path h="6354182" w="8472243">
                <a:moveTo>
                  <a:pt x="0" y="0"/>
                </a:moveTo>
                <a:lnTo>
                  <a:pt x="8472242" y="0"/>
                </a:lnTo>
                <a:lnTo>
                  <a:pt x="8472242" y="6354182"/>
                </a:lnTo>
                <a:lnTo>
                  <a:pt x="0" y="63541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457279" y="2368490"/>
            <a:ext cx="8464786" cy="6348590"/>
          </a:xfrm>
          <a:custGeom>
            <a:avLst/>
            <a:gdLst/>
            <a:ahLst/>
            <a:cxnLst/>
            <a:rect r="r" b="b" t="t" l="l"/>
            <a:pathLst>
              <a:path h="6348590" w="8464786">
                <a:moveTo>
                  <a:pt x="0" y="0"/>
                </a:moveTo>
                <a:lnTo>
                  <a:pt x="8464786" y="0"/>
                </a:lnTo>
                <a:lnTo>
                  <a:pt x="8464786" y="6348589"/>
                </a:lnTo>
                <a:lnTo>
                  <a:pt x="0" y="63485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11283660" cy="7681667"/>
            <a:chOff x="0" y="0"/>
            <a:chExt cx="2971828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71828" cy="2023155"/>
            </a:xfrm>
            <a:custGeom>
              <a:avLst/>
              <a:gdLst/>
              <a:ahLst/>
              <a:cxnLst/>
              <a:rect r="r" b="b" t="t" l="l"/>
              <a:pathLst>
                <a:path h="2023155" w="2971828">
                  <a:moveTo>
                    <a:pt x="34306" y="0"/>
                  </a:moveTo>
                  <a:lnTo>
                    <a:pt x="2937522" y="0"/>
                  </a:lnTo>
                  <a:cubicBezTo>
                    <a:pt x="2956469" y="0"/>
                    <a:pt x="2971828" y="15359"/>
                    <a:pt x="2971828" y="34306"/>
                  </a:cubicBezTo>
                  <a:lnTo>
                    <a:pt x="2971828" y="1988849"/>
                  </a:lnTo>
                  <a:cubicBezTo>
                    <a:pt x="2971828" y="2007796"/>
                    <a:pt x="2956469" y="2023155"/>
                    <a:pt x="2937522" y="2023155"/>
                  </a:cubicBezTo>
                  <a:lnTo>
                    <a:pt x="34306" y="2023155"/>
                  </a:lnTo>
                  <a:cubicBezTo>
                    <a:pt x="15359" y="2023155"/>
                    <a:pt x="0" y="2007796"/>
                    <a:pt x="0" y="1988849"/>
                  </a:cubicBezTo>
                  <a:lnTo>
                    <a:pt x="0" y="34306"/>
                  </a:lnTo>
                  <a:cubicBezTo>
                    <a:pt x="0" y="15359"/>
                    <a:pt x="15359" y="0"/>
                    <a:pt x="34306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71828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9928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5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17113" y="1827269"/>
            <a:ext cx="6369833" cy="7431031"/>
            <a:chOff x="0" y="0"/>
            <a:chExt cx="1677652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77652" cy="1957144"/>
            </a:xfrm>
            <a:custGeom>
              <a:avLst/>
              <a:gdLst/>
              <a:ahLst/>
              <a:cxnLst/>
              <a:rect r="r" b="b" t="t" l="l"/>
              <a:pathLst>
                <a:path h="1957144" w="1677652">
                  <a:moveTo>
                    <a:pt x="60770" y="0"/>
                  </a:moveTo>
                  <a:lnTo>
                    <a:pt x="1616881" y="0"/>
                  </a:lnTo>
                  <a:cubicBezTo>
                    <a:pt x="1632999" y="0"/>
                    <a:pt x="1648456" y="6403"/>
                    <a:pt x="1659853" y="17799"/>
                  </a:cubicBezTo>
                  <a:cubicBezTo>
                    <a:pt x="1671249" y="29196"/>
                    <a:pt x="1677652" y="44653"/>
                    <a:pt x="1677652" y="60770"/>
                  </a:cubicBezTo>
                  <a:lnTo>
                    <a:pt x="1677652" y="1896374"/>
                  </a:lnTo>
                  <a:cubicBezTo>
                    <a:pt x="1677652" y="1912491"/>
                    <a:pt x="1671249" y="1927948"/>
                    <a:pt x="1659853" y="1939345"/>
                  </a:cubicBezTo>
                  <a:cubicBezTo>
                    <a:pt x="1648456" y="1950742"/>
                    <a:pt x="1632999" y="1957144"/>
                    <a:pt x="1616881" y="1957144"/>
                  </a:cubicBezTo>
                  <a:lnTo>
                    <a:pt x="60770" y="1957144"/>
                  </a:lnTo>
                  <a:cubicBezTo>
                    <a:pt x="44653" y="1957144"/>
                    <a:pt x="29196" y="1950742"/>
                    <a:pt x="17799" y="1939345"/>
                  </a:cubicBezTo>
                  <a:cubicBezTo>
                    <a:pt x="6403" y="1927948"/>
                    <a:pt x="0" y="1912491"/>
                    <a:pt x="0" y="1896374"/>
                  </a:cubicBezTo>
                  <a:lnTo>
                    <a:pt x="0" y="60770"/>
                  </a:lnTo>
                  <a:cubicBezTo>
                    <a:pt x="0" y="44653"/>
                    <a:pt x="6403" y="29196"/>
                    <a:pt x="17799" y="17799"/>
                  </a:cubicBezTo>
                  <a:cubicBezTo>
                    <a:pt x="29196" y="6403"/>
                    <a:pt x="44653" y="0"/>
                    <a:pt x="60770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77652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93394" y="1779644"/>
            <a:ext cx="11073516" cy="655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def f(theta, mode = "float64"):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if mode == "float32":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return np.float32(math.sin(theta) - (T / (2 * math.pi)) * math.sqrt(g / L))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elif mode == "trunc":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return round(math.sin(theta) - (T / (2 * math.pi)) * math.sqrt(g / L), 5)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return math.sin(theta) - (T / (2 * math.pi)) * math.sqrt(g / L)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def df(theta, mode = "float64"):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if mode == "float32":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return np.float32(math.cos(theta))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elif mode == "trunc":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return round(math.cos(theta))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return math.cos(theta)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887827" y="2216824"/>
            <a:ext cx="5866734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Variáveis pré-definidas: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g = 9.81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L = 1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 = 2.0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Como a função seno é periódica, usamos math.asin para extrair a raiz no primeiro quadrante, representando o menor ângulo inicial positivo do pêndulo.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17113" y="7652087"/>
            <a:ext cx="636983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Definimos métodos de arredondamento igual ao exercício 3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11283660" cy="7681667"/>
            <a:chOff x="0" y="0"/>
            <a:chExt cx="2971828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71828" cy="2023155"/>
            </a:xfrm>
            <a:custGeom>
              <a:avLst/>
              <a:gdLst/>
              <a:ahLst/>
              <a:cxnLst/>
              <a:rect r="r" b="b" t="t" l="l"/>
              <a:pathLst>
                <a:path h="2023155" w="2971828">
                  <a:moveTo>
                    <a:pt x="34306" y="0"/>
                  </a:moveTo>
                  <a:lnTo>
                    <a:pt x="2937522" y="0"/>
                  </a:lnTo>
                  <a:cubicBezTo>
                    <a:pt x="2956469" y="0"/>
                    <a:pt x="2971828" y="15359"/>
                    <a:pt x="2971828" y="34306"/>
                  </a:cubicBezTo>
                  <a:lnTo>
                    <a:pt x="2971828" y="1988849"/>
                  </a:lnTo>
                  <a:cubicBezTo>
                    <a:pt x="2971828" y="2007796"/>
                    <a:pt x="2956469" y="2023155"/>
                    <a:pt x="2937522" y="2023155"/>
                  </a:cubicBezTo>
                  <a:lnTo>
                    <a:pt x="34306" y="2023155"/>
                  </a:lnTo>
                  <a:cubicBezTo>
                    <a:pt x="15359" y="2023155"/>
                    <a:pt x="0" y="2007796"/>
                    <a:pt x="0" y="1988849"/>
                  </a:cubicBezTo>
                  <a:lnTo>
                    <a:pt x="0" y="34306"/>
                  </a:lnTo>
                  <a:cubicBezTo>
                    <a:pt x="0" y="15359"/>
                    <a:pt x="15359" y="0"/>
                    <a:pt x="34306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71828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9928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5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17113" y="1827269"/>
            <a:ext cx="6369833" cy="7431031"/>
            <a:chOff x="0" y="0"/>
            <a:chExt cx="1677652" cy="1957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77652" cy="1957144"/>
            </a:xfrm>
            <a:custGeom>
              <a:avLst/>
              <a:gdLst/>
              <a:ahLst/>
              <a:cxnLst/>
              <a:rect r="r" b="b" t="t" l="l"/>
              <a:pathLst>
                <a:path h="1957144" w="1677652">
                  <a:moveTo>
                    <a:pt x="60770" y="0"/>
                  </a:moveTo>
                  <a:lnTo>
                    <a:pt x="1616881" y="0"/>
                  </a:lnTo>
                  <a:cubicBezTo>
                    <a:pt x="1632999" y="0"/>
                    <a:pt x="1648456" y="6403"/>
                    <a:pt x="1659853" y="17799"/>
                  </a:cubicBezTo>
                  <a:cubicBezTo>
                    <a:pt x="1671249" y="29196"/>
                    <a:pt x="1677652" y="44653"/>
                    <a:pt x="1677652" y="60770"/>
                  </a:cubicBezTo>
                  <a:lnTo>
                    <a:pt x="1677652" y="1896374"/>
                  </a:lnTo>
                  <a:cubicBezTo>
                    <a:pt x="1677652" y="1912491"/>
                    <a:pt x="1671249" y="1927948"/>
                    <a:pt x="1659853" y="1939345"/>
                  </a:cubicBezTo>
                  <a:cubicBezTo>
                    <a:pt x="1648456" y="1950742"/>
                    <a:pt x="1632999" y="1957144"/>
                    <a:pt x="1616881" y="1957144"/>
                  </a:cubicBezTo>
                  <a:lnTo>
                    <a:pt x="60770" y="1957144"/>
                  </a:lnTo>
                  <a:cubicBezTo>
                    <a:pt x="44653" y="1957144"/>
                    <a:pt x="29196" y="1950742"/>
                    <a:pt x="17799" y="1939345"/>
                  </a:cubicBezTo>
                  <a:cubicBezTo>
                    <a:pt x="6403" y="1927948"/>
                    <a:pt x="0" y="1912491"/>
                    <a:pt x="0" y="1896374"/>
                  </a:cubicBezTo>
                  <a:lnTo>
                    <a:pt x="0" y="60770"/>
                  </a:lnTo>
                  <a:cubicBezTo>
                    <a:pt x="0" y="44653"/>
                    <a:pt x="6403" y="29196"/>
                    <a:pt x="17799" y="17799"/>
                  </a:cubicBezTo>
                  <a:cubicBezTo>
                    <a:pt x="29196" y="6403"/>
                    <a:pt x="44653" y="0"/>
                    <a:pt x="60770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77652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93394" y="1968500"/>
            <a:ext cx="11073516" cy="760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def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Biss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cao(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a,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b, t,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mode = "float64"):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name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=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f"B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sseção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{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mode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}"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it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=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0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e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= [ ]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s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ta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_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ti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=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tim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pe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f_coun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er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()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wh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l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abs(b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-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a)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&gt;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t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nd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it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&lt;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100: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mode == "float32":  c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=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np.float32((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+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b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) /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2)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elif mode == "trunc": c = np.tru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nc(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(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 +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b)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/ 2 * 10e3) / 10e3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elif mod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 == "float64": c = (a + b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) / 2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c == a or c == b: break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f(c,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m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ode)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==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0: break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li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 f(a, mode)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*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f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(c,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mode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)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&lt;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0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:  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b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=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el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se: 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=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it += 1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e.append(abs(c - Raizes)) 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theta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=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t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em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 = t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ime.pe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f_co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un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ter()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-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rt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_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im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return th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eta, i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, n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me,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2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tempo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617113" y="2580405"/>
            <a:ext cx="616415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Mesmo abordagem para bisseção discutida anteriormente.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27568" y="3755155"/>
            <a:ext cx="614892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 código nos retorna theta em rad relativo as medidas iniciais que fornecemos.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27568" y="5739530"/>
            <a:ext cx="624067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c==a e b==a evitam loops infini</a:t>
            </a: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tos quando a máquina atinge seu limite de casas decimais.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13557662" cy="7681667"/>
            <a:chOff x="0" y="0"/>
            <a:chExt cx="3570742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0742" cy="2023155"/>
            </a:xfrm>
            <a:custGeom>
              <a:avLst/>
              <a:gdLst/>
              <a:ahLst/>
              <a:cxnLst/>
              <a:rect r="r" b="b" t="t" l="l"/>
              <a:pathLst>
                <a:path h="2023155" w="3570742">
                  <a:moveTo>
                    <a:pt x="28552" y="0"/>
                  </a:moveTo>
                  <a:lnTo>
                    <a:pt x="3542190" y="0"/>
                  </a:lnTo>
                  <a:cubicBezTo>
                    <a:pt x="3557959" y="0"/>
                    <a:pt x="3570742" y="12783"/>
                    <a:pt x="3570742" y="28552"/>
                  </a:cubicBezTo>
                  <a:lnTo>
                    <a:pt x="3570742" y="1994603"/>
                  </a:lnTo>
                  <a:cubicBezTo>
                    <a:pt x="3570742" y="2010372"/>
                    <a:pt x="3557959" y="2023155"/>
                    <a:pt x="3542190" y="2023155"/>
                  </a:cubicBezTo>
                  <a:lnTo>
                    <a:pt x="28552" y="2023155"/>
                  </a:lnTo>
                  <a:cubicBezTo>
                    <a:pt x="12783" y="2023155"/>
                    <a:pt x="0" y="2010372"/>
                    <a:pt x="0" y="1994603"/>
                  </a:cubicBezTo>
                  <a:lnTo>
                    <a:pt x="0" y="28552"/>
                  </a:lnTo>
                  <a:cubicBezTo>
                    <a:pt x="0" y="12783"/>
                    <a:pt x="12783" y="0"/>
                    <a:pt x="28552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70742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9928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5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327586" y="1926990"/>
            <a:ext cx="13093606" cy="761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def Newton(theta, t, mode = "float64"):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name = f"Newton-Raphson {mode}"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it = 0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e = [ ] 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start_time = time.perf_counter()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while it &lt; 100: 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df(theta[it], mode) == 0: break 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mode == "float32":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  theta.append(np.float32(theta[it] - f(theta[it], mode)/df(theta[it], mode)))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elif mode == "trunc":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  theta.append((np.trunc((theta[it] - f(theta[it], mode)/df(theta[it], mode))*10e3)/10e3*10e3)/10e3)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elif mode == "float64":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  theta.append(theta[it] - f(theta[it], mode)/df(theta[it], mode))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it += 1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e.append(abs(theta[it] - Raizes))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abs(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theta[it] - theta[it-1])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&lt; t:   break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t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em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 = t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ime.pe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f_co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un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ter()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-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rt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_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im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return th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eta[-1], i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, n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me,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tempo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</a:p>
          <a:p>
            <a:pPr algn="just">
              <a:lnSpc>
                <a:spcPts val="306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729033"/>
            <a:ext cx="16890226" cy="7681667"/>
            <a:chOff x="0" y="0"/>
            <a:chExt cx="4448455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8454" cy="2023155"/>
            </a:xfrm>
            <a:custGeom>
              <a:avLst/>
              <a:gdLst/>
              <a:ahLst/>
              <a:cxnLst/>
              <a:rect r="r" b="b" t="t" l="l"/>
              <a:pathLst>
                <a:path h="2023155" w="4448454">
                  <a:moveTo>
                    <a:pt x="22918" y="0"/>
                  </a:moveTo>
                  <a:lnTo>
                    <a:pt x="4425536" y="0"/>
                  </a:lnTo>
                  <a:cubicBezTo>
                    <a:pt x="4438193" y="0"/>
                    <a:pt x="4448454" y="10261"/>
                    <a:pt x="4448454" y="22918"/>
                  </a:cubicBezTo>
                  <a:lnTo>
                    <a:pt x="4448454" y="2000237"/>
                  </a:lnTo>
                  <a:cubicBezTo>
                    <a:pt x="4448454" y="2006315"/>
                    <a:pt x="4446040" y="2012144"/>
                    <a:pt x="4441742" y="2016442"/>
                  </a:cubicBezTo>
                  <a:cubicBezTo>
                    <a:pt x="4437444" y="2020740"/>
                    <a:pt x="4431614" y="2023155"/>
                    <a:pt x="4425536" y="2023155"/>
                  </a:cubicBezTo>
                  <a:lnTo>
                    <a:pt x="22918" y="2023155"/>
                  </a:lnTo>
                  <a:cubicBezTo>
                    <a:pt x="16840" y="2023155"/>
                    <a:pt x="11011" y="2020740"/>
                    <a:pt x="6713" y="2016442"/>
                  </a:cubicBezTo>
                  <a:cubicBezTo>
                    <a:pt x="2415" y="2012144"/>
                    <a:pt x="0" y="2006315"/>
                    <a:pt x="0" y="2000237"/>
                  </a:cubicBezTo>
                  <a:lnTo>
                    <a:pt x="0" y="22918"/>
                  </a:lnTo>
                  <a:cubicBezTo>
                    <a:pt x="0" y="16840"/>
                    <a:pt x="2415" y="11011"/>
                    <a:pt x="6713" y="6713"/>
                  </a:cubicBezTo>
                  <a:cubicBezTo>
                    <a:pt x="11011" y="2415"/>
                    <a:pt x="16840" y="0"/>
                    <a:pt x="2291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48455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9928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5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327586" y="1926990"/>
            <a:ext cx="16344402" cy="761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def secante(theta, t, mode = "float64"):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name = f"Secante {mode}"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it = 1 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e = [ ] 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start_time = time.perf_counter()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while it &lt; 100: 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f(theta[it], mode) - f(theta[it-1], mode) == 0: break 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mode == "float32":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  theta.append(np.float32(theta[it] - (((theta[it] - theta[it-1]) * f(theta[it], mode)) / (f(theta[it], mode) - f(theta[it-1], mode)))))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elif mode == "trunc":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theta.append(np.trunc((theta[it] - (((theta[it] - theta[it-1]) * f(theta[it], mode)) / (f(theta[it], mode) - f(theta[it-1], mode))))*10e3)/10e3)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elif mode == "float64":    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  theta.append(theta[it] - (((theta[it] - theta[it-1]) * f(theta[it], mode)) / (f(theta[it], mode) - f(theta[it-1], mode))))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it += 1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e.append(abs(theta[it] - Raizes))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if abs(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theta[it] - theta[it-1])</a:t>
            </a: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&lt; t: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sz="219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     break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0" y="1976905"/>
            <a:ext cx="6608248" cy="7681667"/>
            <a:chOff x="0" y="0"/>
            <a:chExt cx="1740444" cy="202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0444" cy="2023155"/>
            </a:xfrm>
            <a:custGeom>
              <a:avLst/>
              <a:gdLst/>
              <a:ahLst/>
              <a:cxnLst/>
              <a:rect r="r" b="b" t="t" l="l"/>
              <a:pathLst>
                <a:path h="2023155" w="1740444">
                  <a:moveTo>
                    <a:pt x="58578" y="0"/>
                  </a:moveTo>
                  <a:lnTo>
                    <a:pt x="1681866" y="0"/>
                  </a:lnTo>
                  <a:cubicBezTo>
                    <a:pt x="1714218" y="0"/>
                    <a:pt x="1740444" y="26226"/>
                    <a:pt x="1740444" y="58578"/>
                  </a:cubicBezTo>
                  <a:lnTo>
                    <a:pt x="1740444" y="1964577"/>
                  </a:lnTo>
                  <a:cubicBezTo>
                    <a:pt x="1740444" y="1996929"/>
                    <a:pt x="1714218" y="2023155"/>
                    <a:pt x="1681866" y="2023155"/>
                  </a:cubicBezTo>
                  <a:lnTo>
                    <a:pt x="58578" y="2023155"/>
                  </a:lnTo>
                  <a:cubicBezTo>
                    <a:pt x="26226" y="2023155"/>
                    <a:pt x="0" y="1996929"/>
                    <a:pt x="0" y="1964577"/>
                  </a:cubicBezTo>
                  <a:lnTo>
                    <a:pt x="0" y="58578"/>
                  </a:lnTo>
                  <a:cubicBezTo>
                    <a:pt x="0" y="26226"/>
                    <a:pt x="26226" y="0"/>
                    <a:pt x="58578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40444" cy="20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5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85885" y="1827269"/>
            <a:ext cx="11349459" cy="7960996"/>
            <a:chOff x="0" y="0"/>
            <a:chExt cx="2989158" cy="20967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89158" cy="2096723"/>
            </a:xfrm>
            <a:custGeom>
              <a:avLst/>
              <a:gdLst/>
              <a:ahLst/>
              <a:cxnLst/>
              <a:rect r="r" b="b" t="t" l="l"/>
              <a:pathLst>
                <a:path h="2096723" w="2989158">
                  <a:moveTo>
                    <a:pt x="34107" y="0"/>
                  </a:moveTo>
                  <a:lnTo>
                    <a:pt x="2955051" y="0"/>
                  </a:lnTo>
                  <a:cubicBezTo>
                    <a:pt x="2973888" y="0"/>
                    <a:pt x="2989158" y="15270"/>
                    <a:pt x="2989158" y="34107"/>
                  </a:cubicBezTo>
                  <a:lnTo>
                    <a:pt x="2989158" y="2062616"/>
                  </a:lnTo>
                  <a:cubicBezTo>
                    <a:pt x="2989158" y="2071662"/>
                    <a:pt x="2985565" y="2080337"/>
                    <a:pt x="2979168" y="2086733"/>
                  </a:cubicBezTo>
                  <a:cubicBezTo>
                    <a:pt x="2972772" y="2093130"/>
                    <a:pt x="2964097" y="2096723"/>
                    <a:pt x="2955051" y="2096723"/>
                  </a:cubicBezTo>
                  <a:lnTo>
                    <a:pt x="34107" y="2096723"/>
                  </a:lnTo>
                  <a:cubicBezTo>
                    <a:pt x="15270" y="2096723"/>
                    <a:pt x="0" y="2081453"/>
                    <a:pt x="0" y="2062616"/>
                  </a:cubicBezTo>
                  <a:lnTo>
                    <a:pt x="0" y="34107"/>
                  </a:lnTo>
                  <a:cubicBezTo>
                    <a:pt x="0" y="15270"/>
                    <a:pt x="15270" y="0"/>
                    <a:pt x="34107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989158" cy="214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16" id="16"/>
          <p:cNvGraphicFramePr/>
          <p:nvPr/>
        </p:nvGraphicFramePr>
        <p:xfrm>
          <a:off x="7771505" y="1957670"/>
          <a:ext cx="9429750" cy="6286500"/>
        </p:xfrm>
        <a:graphic>
          <a:graphicData uri="http://schemas.openxmlformats.org/presentationml/2006/ole">
            <p:oleObj imgW="11315700" imgH="81661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7" id="17"/>
          <p:cNvSpPr/>
          <p:nvPr/>
        </p:nvSpPr>
        <p:spPr>
          <a:xfrm flipH="false" flipV="false" rot="0">
            <a:off x="10947421" y="879729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5" y="0"/>
                </a:lnTo>
                <a:lnTo>
                  <a:pt x="3797075" y="1044196"/>
                </a:lnTo>
                <a:lnTo>
                  <a:pt x="0" y="10441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394295" y="1177976"/>
            <a:ext cx="2903326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RESULTADO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250" y="2653582"/>
            <a:ext cx="660824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Usamos o as ranking pelo número de iterações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250" y="4470400"/>
            <a:ext cx="6608248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Métodos arredondados por truncamento, normalmente, apresentam menor número de iterações, em detrimento de seu maior erro absoluto.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2500" y="6588125"/>
            <a:ext cx="6395748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Em comparação com o método de newton e da secante, a bisseção performa de forma parecida com o método do ponto fixo visto no exercício anterior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037" y="299409"/>
            <a:ext cx="12308921" cy="1965041"/>
            <a:chOff x="0" y="0"/>
            <a:chExt cx="16411895" cy="262005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66675"/>
              <a:ext cx="16411895" cy="159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Questão 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87770"/>
              <a:ext cx="1641189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037" y="2027878"/>
            <a:ext cx="17698307" cy="7431031"/>
            <a:chOff x="0" y="0"/>
            <a:chExt cx="4661282" cy="19571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61283" cy="1957144"/>
            </a:xfrm>
            <a:custGeom>
              <a:avLst/>
              <a:gdLst/>
              <a:ahLst/>
              <a:cxnLst/>
              <a:rect r="r" b="b" t="t" l="l"/>
              <a:pathLst>
                <a:path h="1957144" w="4661283">
                  <a:moveTo>
                    <a:pt x="21872" y="0"/>
                  </a:moveTo>
                  <a:lnTo>
                    <a:pt x="4639411" y="0"/>
                  </a:lnTo>
                  <a:cubicBezTo>
                    <a:pt x="4645211" y="0"/>
                    <a:pt x="4650775" y="2304"/>
                    <a:pt x="4654876" y="6406"/>
                  </a:cubicBezTo>
                  <a:cubicBezTo>
                    <a:pt x="4658978" y="10508"/>
                    <a:pt x="4661283" y="16071"/>
                    <a:pt x="4661283" y="21872"/>
                  </a:cubicBezTo>
                  <a:lnTo>
                    <a:pt x="4661283" y="1935272"/>
                  </a:lnTo>
                  <a:cubicBezTo>
                    <a:pt x="4661283" y="1941073"/>
                    <a:pt x="4658978" y="1946636"/>
                    <a:pt x="4654876" y="1950738"/>
                  </a:cubicBezTo>
                  <a:cubicBezTo>
                    <a:pt x="4650775" y="1954840"/>
                    <a:pt x="4645211" y="1957144"/>
                    <a:pt x="4639411" y="1957144"/>
                  </a:cubicBezTo>
                  <a:lnTo>
                    <a:pt x="21872" y="1957144"/>
                  </a:lnTo>
                  <a:cubicBezTo>
                    <a:pt x="16071" y="1957144"/>
                    <a:pt x="10508" y="1954840"/>
                    <a:pt x="6406" y="1950738"/>
                  </a:cubicBezTo>
                  <a:cubicBezTo>
                    <a:pt x="2304" y="1946636"/>
                    <a:pt x="0" y="1941073"/>
                    <a:pt x="0" y="1935272"/>
                  </a:cubicBezTo>
                  <a:lnTo>
                    <a:pt x="0" y="21872"/>
                  </a:lnTo>
                  <a:cubicBezTo>
                    <a:pt x="0" y="16071"/>
                    <a:pt x="2304" y="10508"/>
                    <a:pt x="6406" y="6406"/>
                  </a:cubicBezTo>
                  <a:cubicBezTo>
                    <a:pt x="10508" y="2304"/>
                    <a:pt x="16071" y="0"/>
                    <a:pt x="21872" y="0"/>
                  </a:cubicBezTo>
                  <a:close/>
                </a:path>
              </a:pathLst>
            </a:custGeom>
            <a:solidFill>
              <a:srgbClr val="6D85FF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61282" cy="2004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976130" y="1588993"/>
            <a:ext cx="3391716" cy="669864"/>
          </a:xfrm>
          <a:custGeom>
            <a:avLst/>
            <a:gdLst/>
            <a:ahLst/>
            <a:cxnLst/>
            <a:rect r="r" b="b" t="t" l="l"/>
            <a:pathLst>
              <a:path h="669864" w="3391716">
                <a:moveTo>
                  <a:pt x="0" y="0"/>
                </a:moveTo>
                <a:lnTo>
                  <a:pt x="3391716" y="0"/>
                </a:lnTo>
                <a:lnTo>
                  <a:pt x="3391716" y="669864"/>
                </a:lnTo>
                <a:lnTo>
                  <a:pt x="0" y="66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38334" y="299409"/>
            <a:ext cx="1867308" cy="1598883"/>
          </a:xfrm>
          <a:custGeom>
            <a:avLst/>
            <a:gdLst/>
            <a:ahLst/>
            <a:cxnLst/>
            <a:rect r="r" b="b" t="t" l="l"/>
            <a:pathLst>
              <a:path h="1598883" w="1867308">
                <a:moveTo>
                  <a:pt x="0" y="0"/>
                </a:moveTo>
                <a:lnTo>
                  <a:pt x="1867308" y="0"/>
                </a:lnTo>
                <a:lnTo>
                  <a:pt x="1867308" y="1598882"/>
                </a:lnTo>
                <a:lnTo>
                  <a:pt x="0" y="159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73476" y="9410700"/>
            <a:ext cx="1013470" cy="509269"/>
          </a:xfrm>
          <a:custGeom>
            <a:avLst/>
            <a:gdLst/>
            <a:ahLst/>
            <a:cxnLst/>
            <a:rect r="r" b="b" t="t" l="l"/>
            <a:pathLst>
              <a:path h="509269" w="1013470">
                <a:moveTo>
                  <a:pt x="0" y="0"/>
                </a:moveTo>
                <a:lnTo>
                  <a:pt x="1013470" y="0"/>
                </a:lnTo>
                <a:lnTo>
                  <a:pt x="1013470" y="509269"/>
                </a:lnTo>
                <a:lnTo>
                  <a:pt x="0" y="50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05860" y="9528878"/>
            <a:ext cx="548701" cy="259386"/>
          </a:xfrm>
          <a:custGeom>
            <a:avLst/>
            <a:gdLst/>
            <a:ahLst/>
            <a:cxnLst/>
            <a:rect r="r" b="b" t="t" l="l"/>
            <a:pathLst>
              <a:path h="259386" w="548701">
                <a:moveTo>
                  <a:pt x="0" y="0"/>
                </a:moveTo>
                <a:lnTo>
                  <a:pt x="548702" y="0"/>
                </a:lnTo>
                <a:lnTo>
                  <a:pt x="548702" y="259387"/>
                </a:lnTo>
                <a:lnTo>
                  <a:pt x="0" y="2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rot="0">
            <a:off x="0" y="9191625"/>
            <a:ext cx="18288000" cy="0"/>
          </a:xfrm>
          <a:prstGeom prst="line">
            <a:avLst/>
          </a:prstGeom>
          <a:ln cap="flat" w="9525">
            <a:solidFill>
              <a:srgbClr val="FFFFFF">
                <a:alpha val="3372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322035" y="2178398"/>
            <a:ext cx="12128312" cy="7079902"/>
          </a:xfrm>
          <a:custGeom>
            <a:avLst/>
            <a:gdLst/>
            <a:ahLst/>
            <a:cxnLst/>
            <a:rect r="r" b="b" t="t" l="l"/>
            <a:pathLst>
              <a:path h="7079902" w="12128312">
                <a:moveTo>
                  <a:pt x="0" y="0"/>
                </a:moveTo>
                <a:lnTo>
                  <a:pt x="12128311" y="0"/>
                </a:lnTo>
                <a:lnTo>
                  <a:pt x="12128311" y="7079902"/>
                </a:lnTo>
                <a:lnTo>
                  <a:pt x="0" y="70799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000367" y="1281929"/>
            <a:ext cx="3797075" cy="1044196"/>
          </a:xfrm>
          <a:custGeom>
            <a:avLst/>
            <a:gdLst/>
            <a:ahLst/>
            <a:cxnLst/>
            <a:rect r="r" b="b" t="t" l="l"/>
            <a:pathLst>
              <a:path h="1044196" w="3797075">
                <a:moveTo>
                  <a:pt x="0" y="0"/>
                </a:moveTo>
                <a:lnTo>
                  <a:pt x="3797075" y="0"/>
                </a:lnTo>
                <a:lnTo>
                  <a:pt x="3797075" y="1044196"/>
                </a:lnTo>
                <a:lnTo>
                  <a:pt x="0" y="1044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447241" y="1580176"/>
            <a:ext cx="2903326" cy="44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RESULTADO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DAHCQQl0Tyc</dc:identifier>
  <dcterms:modified xsi:type="dcterms:W3CDTF">2011-08-01T06:04:30Z</dcterms:modified>
  <cp:revision>1</cp:revision>
  <dc:title>Cálculo Númerico</dc:title>
</cp:coreProperties>
</file>